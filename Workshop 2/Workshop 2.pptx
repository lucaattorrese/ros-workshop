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56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82" r:id="rId23"/>
    <p:sldId id="283" r:id="rId24"/>
    <p:sldId id="285" r:id="rId25"/>
    <p:sldId id="286" r:id="rId26"/>
    <p:sldId id="287" r:id="rId27"/>
    <p:sldId id="289" r:id="rId28"/>
    <p:sldId id="291" r:id="rId29"/>
    <p:sldId id="292" r:id="rId30"/>
    <p:sldId id="280" r:id="rId31"/>
    <p:sldId id="281" r:id="rId32"/>
    <p:sldId id="293" r:id="rId33"/>
    <p:sldId id="294" r:id="rId34"/>
    <p:sldId id="295" r:id="rId35"/>
    <p:sldId id="296" r:id="rId36"/>
    <p:sldId id="297" r:id="rId37"/>
    <p:sldId id="298" r:id="rId38"/>
    <p:sldId id="299" r:id="rId39"/>
    <p:sldId id="300" r:id="rId40"/>
    <p:sldId id="301" r:id="rId41"/>
    <p:sldId id="302" r:id="rId42"/>
    <p:sldId id="303" r:id="rId43"/>
    <p:sldId id="304" r:id="rId44"/>
    <p:sldId id="306" r:id="rId45"/>
    <p:sldId id="307" r:id="rId46"/>
    <p:sldId id="308" r:id="rId47"/>
    <p:sldId id="309" r:id="rId48"/>
    <p:sldId id="334" r:id="rId49"/>
    <p:sldId id="311" r:id="rId50"/>
    <p:sldId id="335" r:id="rId51"/>
    <p:sldId id="336" r:id="rId52"/>
    <p:sldId id="338" r:id="rId53"/>
    <p:sldId id="339" r:id="rId54"/>
    <p:sldId id="333" r:id="rId55"/>
  </p:sldIdLst>
  <p:sldSz cx="9144000" cy="5143500" type="screen16x9"/>
  <p:notesSz cx="6858000" cy="9144000"/>
  <p:embeddedFontLst>
    <p:embeddedFont>
      <p:font typeface="Antonio" panose="020B0604020202020204" charset="0"/>
      <p:regular r:id="rId57"/>
      <p:bold r:id="rId58"/>
    </p:embeddedFont>
    <p:embeddedFont>
      <p:font typeface="Consolas" panose="020B0609020204030204" pitchFamily="49" charset="0"/>
      <p:regular r:id="rId59"/>
      <p:bold r:id="rId60"/>
      <p:italic r:id="rId61"/>
      <p:boldItalic r:id="rId6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17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878" y="101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font" Target="fonts/font2.fntdata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font" Target="fonts/font5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3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font" Target="fonts/font1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font" Target="fonts/font4.fntdata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56ae2e8954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56ae2e8954_0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356aea39eaf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356aea39eaf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574c77bc42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3574c77bc42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574c77bc4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3574c77bc4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574c77bc42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3574c77bc42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574c77bc42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574c77bc42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574c77bc42_0_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574c77bc42_0_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574c77bc42_0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574c77bc42_0_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56ae2e8954_1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356ae2e8954_1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5068b47852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35068b47852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5068b47852_0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35068b47852_0_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5068b47852_0_1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35068b47852_0_1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5068b47852_0_1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5068b47852_0_1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35068b47852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5" name="Google Shape;235;g35068b47852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5068b47852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35068b47852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35068b47852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7" name="Google Shape;267;g35068b47852_0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35068b47852_0_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g35068b47852_0_1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5068b47852_0_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5068b47852_0_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g35068b47852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5" name="Google Shape;305;g35068b47852_0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35068b47852_0_1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8" name="Google Shape;318;g35068b47852_0_1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0F80111B-95F7-5ADF-3619-3C5F0A892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E77787B0-0112-2797-3FBC-C4D4459CC6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99068D59-E6A4-8A06-ED3C-32DE9FD553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3439696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84DE6A87-B3F5-EDF0-B2C1-B4B36D843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0ADF187D-2106-1031-D618-0712C421C0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88A1072D-20A4-F719-CAB4-2158721605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7349571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A310D835-00C3-2CDE-D0C5-637629271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20E470B8-DAC1-93FC-F7FC-71B7A9F1A4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CCC694EC-1184-7C4D-E53F-64BDC10A05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8568499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9E61BDA2-F52C-7AB3-D671-A9325CA1A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199B8228-65D5-BA27-D1BB-B28D46DA78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0242E7C1-3214-934F-109A-01D8487D5F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5970257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BDE146C5-C73B-C140-232E-E7C360321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B1FF622B-4E84-455F-614A-328642A5FD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83199A5A-596F-7F56-6497-D2816704CB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8485595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7BB8EE17-408C-7CFC-36E3-1E491AC94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D7BD7C6F-9AC5-66BD-182F-784228DA6B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B711A48A-192F-F916-1D1E-46F2FD8E15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0093092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B7A3A45C-503F-24C1-FEAA-625874D223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8177DAFF-471F-DA42-9DCD-F6F99F07AA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96E05C09-2C5C-5042-C736-711EE8456E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1391729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8A0E1E90-B7F8-4425-E651-C13D1F010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7E6CB702-4FD6-7567-F34B-5DB92F70E7E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BE840C1E-D795-0DF5-C0F2-2E6A3A8450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8738045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g35068b47852_0_1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5" name="Google Shape;365;g35068b47852_0_1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35068b47852_0_2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35068b47852_0_2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72D4EEB1-4B84-B01F-0770-3881577DD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A6538260-9AED-0517-54AE-F6AEBB306C2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949597F0-FDB5-6015-2AF0-CA1A63801FD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220561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948EAAD5-B72A-65E1-58E4-BB6C83E5A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56F241B7-EBCF-6992-5FEC-757CE2AE85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237B0443-9301-8E5B-967A-FD2E43CE9F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9956339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2756AF80-A7CC-C204-2A52-A2BD117598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D4428A96-2E1E-67EF-BA67-674C63478F6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5F467882-E2D3-0774-1CDA-84D1D571300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8015789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283BA4DD-5B71-BEAF-1F0F-DB54AAE88F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BF9BE289-D1F9-336D-4613-19EFDD29B9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0446D3E5-1585-1B2D-B369-1AC56E3413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6423261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1365B83C-E215-7D9B-20A4-542DCEF30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574B215A-5865-BF06-EA7A-8F3782379BD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A5F9F156-52A1-0A88-0D6E-77F48ECE70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9872849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8BB6461F-609B-DFD0-C558-55D692CF9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37A20EB3-4742-4105-B247-A8FF60A343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E26F5182-7C79-698E-E7BD-61023E64FE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9930191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F0ED2A11-33B7-B49E-650B-040E7C960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2F72FD7A-04B1-067E-164D-0C277B2098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D79F20E8-F8D2-DFE9-51C0-FD6FE34693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7206523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63BB5029-D55C-A997-6C58-6A46AE23B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A587E44B-9829-90B7-B432-DD25280D0E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3A901208-D1B8-C4DE-7DDF-CC4D363C39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40508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45CCF5C4-D023-8F39-1D6F-7C34F5A1E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55D2F9B8-5FF3-268D-B681-4C4739B437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AA0F25D5-B221-72D4-DEEB-911A232F93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3281363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E53ADC08-806C-D192-A642-ED397BD65A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8C2CAC3F-06AF-9C00-55FA-D77F1EA8F1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784790EC-4C56-3D77-FB5A-A6304AB4C4C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5113992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415D9858-C869-6FA3-FA06-78E629E3C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6FA8992A-4F3B-796D-1D9D-2137B0C8F9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326E0780-E9E8-EAE9-6E02-0D96F92DB4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7391149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C0AD207D-301D-43C1-7A57-75338A5EB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C52051C3-F424-7323-2197-F2D9F01EF9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13D5A93A-3733-995B-BBE9-F70C019BAD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560612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4D0274FE-B142-0F64-13EB-7CFC9700E9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BCB0CC64-D6DF-0EEE-E161-77F901272F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D79362D3-8729-D33B-CD9F-EF0DFBF973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849335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C51013E3-A1E3-6623-3DF8-7FD0515E27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E008DD5E-E877-CA49-3ABD-C7F68CA54D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87575FDC-BA29-B154-0974-F86755A32B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0450364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3B223C2B-01D2-7A6E-BF9D-0B39BC5CD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F66B376A-E2E3-64CD-D935-2E92DD970E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9FBF1FD9-5FD1-6044-A6B1-774CFECA02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94135415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22F7116F-D761-3668-4803-0B0EF75C6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4E82786A-969E-89B1-4A52-84AF3E4E79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6DCF40A5-1905-18C5-9AFA-9C3EB565B7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9847559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5">
          <a:extLst>
            <a:ext uri="{FF2B5EF4-FFF2-40B4-BE49-F238E27FC236}">
              <a16:creationId xmlns:a16="http://schemas.microsoft.com/office/drawing/2014/main" id="{52F03E1C-6FE1-996B-12EC-FDA85FA22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g35545bfa48a_0_12:notes">
            <a:extLst>
              <a:ext uri="{FF2B5EF4-FFF2-40B4-BE49-F238E27FC236}">
                <a16:creationId xmlns:a16="http://schemas.microsoft.com/office/drawing/2014/main" id="{9E7B7EE4-3F61-6CF1-8A8E-A58DC5C47DD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7" name="Google Shape;367;g35545bfa48a_0_12:notes">
            <a:extLst>
              <a:ext uri="{FF2B5EF4-FFF2-40B4-BE49-F238E27FC236}">
                <a16:creationId xmlns:a16="http://schemas.microsoft.com/office/drawing/2014/main" id="{EC968E5F-743E-8DD4-41FB-88DFD4D0E9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8312122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BB7281FF-7E43-F548-CE58-47BE3ABF2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71241803-2C89-90A0-0F14-2A94B5319A6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E6AB6F04-0002-CD44-6337-61A956B0B5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5885534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8F829AEE-2513-CDE5-D3F2-36301E811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46AACBE9-2BAA-C2AB-41D1-F89503D8C8E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A25D480E-9A99-9935-AFF3-1EC81888B62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7311048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EC2E8A42-D751-7D2A-333D-7C5F8A855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64B4665C-F14A-D2ED-60BB-26EEBD2596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71723FD0-61AB-6393-BC03-EB7946B59E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21701494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97516DC8-69A7-65B9-2712-900E357AD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451FE349-F714-115D-C938-A6C7BDE02C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8C8C552A-EC6D-AD92-A177-621DAB2BA6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256587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3E7DA454-9038-9166-1BF0-B0B21BC42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74134CCB-3AEB-4364-3F0E-BEC5254911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77559577-D6E2-F283-CD87-0A61AEE139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78552352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5">
          <a:extLst>
            <a:ext uri="{FF2B5EF4-FFF2-40B4-BE49-F238E27FC236}">
              <a16:creationId xmlns:a16="http://schemas.microsoft.com/office/drawing/2014/main" id="{52F03E1C-6FE1-996B-12EC-FDA85FA22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g35545bfa48a_0_12:notes">
            <a:extLst>
              <a:ext uri="{FF2B5EF4-FFF2-40B4-BE49-F238E27FC236}">
                <a16:creationId xmlns:a16="http://schemas.microsoft.com/office/drawing/2014/main" id="{9E7B7EE4-3F61-6CF1-8A8E-A58DC5C47DD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7" name="Google Shape;367;g35545bfa48a_0_12:notes">
            <a:extLst>
              <a:ext uri="{FF2B5EF4-FFF2-40B4-BE49-F238E27FC236}">
                <a16:creationId xmlns:a16="http://schemas.microsoft.com/office/drawing/2014/main" id="{EC968E5F-743E-8DD4-41FB-88DFD4D0E9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831212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LucaAttorrese/ROS-Workshop/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gif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gif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5.gi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6.gi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gif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6.gi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gif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gif"/><Relationship Id="rId4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gi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drive.google.com/drive/folders/1_0r6vAFO9Ri0vHGDMjnbiCNLe6S428W9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jp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3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.jpg"/><Relationship Id="rId4" Type="http://schemas.openxmlformats.org/officeDocument/2006/relationships/image" Target="../media/image3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8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0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2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4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46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8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5" name="Google Shape;55;p13" title="ChatGPT Image 26 apr 2025, 11_32_01.png"/>
          <p:cNvPicPr preferRelativeResize="0"/>
          <p:nvPr/>
        </p:nvPicPr>
        <p:blipFill rotWithShape="1">
          <a:blip r:embed="rId3">
            <a:alphaModFix/>
          </a:blip>
          <a:srcRect l="2277" r="94354"/>
          <a:stretch/>
        </p:blipFill>
        <p:spPr>
          <a:xfrm>
            <a:off x="142050" y="0"/>
            <a:ext cx="780177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ChatGPT Image 26 apr 2025, 11_32_01.png"/>
          <p:cNvPicPr preferRelativeResize="0"/>
          <p:nvPr/>
        </p:nvPicPr>
        <p:blipFill rotWithShape="1">
          <a:blip r:embed="rId3">
            <a:alphaModFix/>
          </a:blip>
          <a:srcRect r="98158"/>
          <a:stretch/>
        </p:blipFill>
        <p:spPr>
          <a:xfrm>
            <a:off x="0" y="0"/>
            <a:ext cx="196723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13" title="ChatGPT Image 26 apr 2025, 11_32_01.png"/>
          <p:cNvPicPr preferRelativeResize="0"/>
          <p:nvPr/>
        </p:nvPicPr>
        <p:blipFill rotWithShape="1">
          <a:blip r:embed="rId3">
            <a:alphaModFix/>
          </a:blip>
          <a:srcRect l="5621" r="2516"/>
          <a:stretch/>
        </p:blipFill>
        <p:spPr>
          <a:xfrm>
            <a:off x="878900" y="0"/>
            <a:ext cx="7087799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13" title="ChatGPT Image 26 apr 2025, 11_32_01.png"/>
          <p:cNvPicPr preferRelativeResize="0"/>
          <p:nvPr/>
        </p:nvPicPr>
        <p:blipFill rotWithShape="1">
          <a:blip r:embed="rId3">
            <a:alphaModFix/>
          </a:blip>
          <a:srcRect l="2277" r="94354"/>
          <a:stretch/>
        </p:blipFill>
        <p:spPr>
          <a:xfrm>
            <a:off x="7917378" y="0"/>
            <a:ext cx="1084573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13" title="ChatGPT Image 26 apr 2025, 11_32_01.png"/>
          <p:cNvPicPr preferRelativeResize="0"/>
          <p:nvPr/>
        </p:nvPicPr>
        <p:blipFill rotWithShape="1">
          <a:blip r:embed="rId3">
            <a:alphaModFix/>
          </a:blip>
          <a:srcRect l="98158"/>
          <a:stretch/>
        </p:blipFill>
        <p:spPr>
          <a:xfrm>
            <a:off x="8947275" y="0"/>
            <a:ext cx="196723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0" name="Google Shape;60;p13"/>
          <p:cNvPicPr preferRelativeResize="0"/>
          <p:nvPr/>
        </p:nvPicPr>
        <p:blipFill rotWithShape="1">
          <a:blip r:embed="rId4">
            <a:alphaModFix/>
          </a:blip>
          <a:srcRect l="13714" t="12653" r="11952" b="31944"/>
          <a:stretch/>
        </p:blipFill>
        <p:spPr>
          <a:xfrm>
            <a:off x="7154702" y="1172975"/>
            <a:ext cx="1677599" cy="12505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4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14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7" name="Google Shape;67;p14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14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14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" name="Google Shape;70;p14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4"/>
          <p:cNvSpPr txBox="1"/>
          <p:nvPr/>
        </p:nvSpPr>
        <p:spPr>
          <a:xfrm>
            <a:off x="369075" y="90450"/>
            <a:ext cx="49161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Scheduling</a:t>
            </a:r>
            <a:endParaRPr sz="48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72" name="Google Shape;72;p14"/>
          <p:cNvSpPr txBox="1"/>
          <p:nvPr/>
        </p:nvSpPr>
        <p:spPr>
          <a:xfrm>
            <a:off x="445675" y="1249025"/>
            <a:ext cx="8218800" cy="28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ntonio"/>
              <a:buChar char="-"/>
            </a:pPr>
            <a:r>
              <a:rPr lang="en" sz="3000" b="1">
                <a:solidFill>
                  <a:srgbClr val="DA2120"/>
                </a:solidFill>
                <a:latin typeface="Antonio"/>
                <a:ea typeface="Antonio"/>
                <a:cs typeface="Antonio"/>
                <a:sym typeface="Antonio"/>
              </a:rPr>
              <a:t>6th May</a:t>
            </a:r>
            <a:r>
              <a:rPr lang="en" sz="3000" b="1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  - Introduction to the software ROS and first examples</a:t>
            </a:r>
            <a:endParaRPr sz="3000" b="1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ntonio"/>
              <a:buChar char="-"/>
            </a:pPr>
            <a:r>
              <a:rPr lang="en" sz="3000" b="1">
                <a:solidFill>
                  <a:srgbClr val="DA2120"/>
                </a:solidFill>
                <a:latin typeface="Antonio"/>
                <a:ea typeface="Antonio"/>
                <a:cs typeface="Antonio"/>
                <a:sym typeface="Antonio"/>
              </a:rPr>
              <a:t>12th May</a:t>
            </a:r>
            <a:r>
              <a:rPr lang="en" sz="3000" b="1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  - Introduction to the GNSS module and how to use GNSS data inside ROS</a:t>
            </a:r>
            <a:endParaRPr sz="3000" b="1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ntonio"/>
              <a:buChar char="-"/>
            </a:pPr>
            <a:r>
              <a:rPr lang="en" sz="3000" b="1">
                <a:solidFill>
                  <a:srgbClr val="EA9999"/>
                </a:solidFill>
                <a:latin typeface="Antonio"/>
                <a:ea typeface="Antonio"/>
                <a:cs typeface="Antonio"/>
                <a:sym typeface="Antonio"/>
              </a:rPr>
              <a:t>16th May</a:t>
            </a:r>
            <a:r>
              <a:rPr lang="en" sz="3000" b="1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 </a:t>
            </a:r>
            <a:r>
              <a:rPr lang="en" sz="3000" b="1">
                <a:solidFill>
                  <a:srgbClr val="999999"/>
                </a:solidFill>
                <a:latin typeface="Antonio"/>
                <a:ea typeface="Antonio"/>
                <a:cs typeface="Antonio"/>
                <a:sym typeface="Antonio"/>
              </a:rPr>
              <a:t>- Introduction to the navigation</a:t>
            </a:r>
            <a:endParaRPr sz="3000" b="1">
              <a:solidFill>
                <a:srgbClr val="999999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rgbClr val="999999"/>
                </a:solidFill>
                <a:latin typeface="Antonio"/>
                <a:ea typeface="Antonio"/>
                <a:cs typeface="Antonio"/>
                <a:sym typeface="Antonio"/>
              </a:rPr>
              <a:t> problem and examples</a:t>
            </a:r>
            <a:endParaRPr sz="3000" b="1">
              <a:solidFill>
                <a:srgbClr val="999999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5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" name="Google Shape;78;p15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9" name="Google Shape;79;p15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15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5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15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5"/>
          <p:cNvSpPr txBox="1"/>
          <p:nvPr/>
        </p:nvSpPr>
        <p:spPr>
          <a:xfrm>
            <a:off x="369075" y="90450"/>
            <a:ext cx="49161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Github link</a:t>
            </a:r>
            <a:endParaRPr sz="48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84" name="Google Shape;84;p15"/>
          <p:cNvSpPr txBox="1"/>
          <p:nvPr/>
        </p:nvSpPr>
        <p:spPr>
          <a:xfrm>
            <a:off x="369075" y="1190750"/>
            <a:ext cx="8295300" cy="293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b="1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You can download all the example from here:</a:t>
            </a:r>
            <a:endParaRPr sz="2900" b="1">
              <a:solidFill>
                <a:schemeClr val="dk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100" b="1" u="sng">
                <a:solidFill>
                  <a:schemeClr val="hlink"/>
                </a:solidFill>
                <a:latin typeface="Consolas"/>
                <a:ea typeface="Consolas"/>
                <a:cs typeface="Consolas"/>
                <a:sym typeface="Consolas"/>
                <a:hlinkClick r:id="rId4"/>
              </a:rPr>
              <a:t>https://github.com/LucaAttorrese/ROS-Workshop/</a:t>
            </a:r>
            <a:endParaRPr sz="2900" b="1">
              <a:solidFill>
                <a:schemeClr val="dk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300" b="1">
              <a:solidFill>
                <a:schemeClr val="dk2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6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16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91" name="Google Shape;91;p16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6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6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6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6"/>
          <p:cNvSpPr txBox="1"/>
          <p:nvPr/>
        </p:nvSpPr>
        <p:spPr>
          <a:xfrm>
            <a:off x="369075" y="90450"/>
            <a:ext cx="49161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Review: pub/sub</a:t>
            </a:r>
            <a:endParaRPr sz="48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96" name="Google Shape;96;p16"/>
          <p:cNvSpPr txBox="1"/>
          <p:nvPr/>
        </p:nvSpPr>
        <p:spPr>
          <a:xfrm>
            <a:off x="369075" y="1190750"/>
            <a:ext cx="8295300" cy="293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 b="1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Let’s review how to run the first example from last lesson:</a:t>
            </a:r>
            <a:r>
              <a:rPr lang="en" sz="2300" b="1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 </a:t>
            </a:r>
            <a:endParaRPr sz="2300" b="1">
              <a:solidFill>
                <a:schemeClr val="dk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746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300"/>
              <a:buFont typeface="Consolas"/>
              <a:buChar char="-"/>
            </a:pPr>
            <a:r>
              <a:rPr lang="en" sz="2300" b="1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Open powershell</a:t>
            </a:r>
            <a:endParaRPr sz="2300" b="1">
              <a:solidFill>
                <a:schemeClr val="dk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746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300"/>
              <a:buFont typeface="Consolas"/>
              <a:buChar char="-"/>
            </a:pPr>
            <a:r>
              <a:rPr lang="en" sz="23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wsl</a:t>
            </a:r>
            <a:r>
              <a:rPr lang="en" sz="2300" b="1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 to open linux environment</a:t>
            </a:r>
            <a:endParaRPr sz="2300" b="1">
              <a:solidFill>
                <a:schemeClr val="dk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746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300"/>
              <a:buFont typeface="Consolas"/>
              <a:buChar char="-"/>
            </a:pPr>
            <a:r>
              <a:rPr lang="en" sz="2300" b="1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Enter in tmux with: </a:t>
            </a:r>
            <a:r>
              <a:rPr lang="en" sz="23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tmux</a:t>
            </a:r>
            <a:endParaRPr sz="2300" b="1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746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Consolas"/>
              <a:buChar char="-"/>
            </a:pPr>
            <a:r>
              <a:rPr lang="en" sz="23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source /opt/ros/jazzy/setup.bash</a:t>
            </a:r>
            <a:endParaRPr sz="2300" b="1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7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7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03" name="Google Shape;103;p17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17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17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17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7"/>
          <p:cNvSpPr txBox="1"/>
          <p:nvPr/>
        </p:nvSpPr>
        <p:spPr>
          <a:xfrm>
            <a:off x="369075" y="90450"/>
            <a:ext cx="49161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Review: pub/sub</a:t>
            </a:r>
            <a:endParaRPr sz="48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108" name="Google Shape;108;p17"/>
          <p:cNvSpPr txBox="1"/>
          <p:nvPr/>
        </p:nvSpPr>
        <p:spPr>
          <a:xfrm>
            <a:off x="369075" y="1190750"/>
            <a:ext cx="8295300" cy="293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619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Consolas"/>
              <a:buChar char="-"/>
            </a:pPr>
            <a:r>
              <a:rPr lang="en" sz="2100" b="1" dirty="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Build the package </a:t>
            </a:r>
            <a:r>
              <a:rPr lang="en" sz="2100" b="1" dirty="0">
                <a:solidFill>
                  <a:srgbClr val="DA2120"/>
                </a:solidFill>
                <a:latin typeface="Consolas"/>
                <a:ea typeface="Consolas"/>
                <a:cs typeface="Consolas"/>
                <a:sym typeface="Consolas"/>
              </a:rPr>
              <a:t>(out of package_prova folder)</a:t>
            </a:r>
            <a:r>
              <a:rPr lang="en" sz="2100" b="1" dirty="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 with: </a:t>
            </a:r>
            <a:r>
              <a:rPr lang="en" sz="21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colcon build --packages-select package_prova</a:t>
            </a:r>
            <a:endParaRPr sz="2100" b="1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619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Consolas"/>
              <a:buChar char="-"/>
            </a:pPr>
            <a:r>
              <a:rPr lang="en" sz="21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source ./install/setup.bash</a:t>
            </a:r>
            <a:endParaRPr sz="2100" b="1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61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Consolas"/>
              <a:buChar char="-"/>
            </a:pPr>
            <a:r>
              <a:rPr lang="en" sz="2100" b="1" dirty="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To run the subscriber: </a:t>
            </a:r>
            <a:endParaRPr sz="2100" b="1" dirty="0">
              <a:solidFill>
                <a:schemeClr val="dk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ros2 run package_prova Test_sub</a:t>
            </a:r>
            <a:endParaRPr sz="2100" b="1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61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Consolas"/>
              <a:buChar char="-"/>
            </a:pPr>
            <a:r>
              <a:rPr lang="en" sz="2100" b="1" dirty="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Open a new terminal (Win/Ub: Ctrl+b then %) to run the publisher:</a:t>
            </a:r>
            <a:endParaRPr sz="2100" b="1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ros2 run package_prova Test_pub</a:t>
            </a:r>
            <a:endParaRPr sz="2100" b="1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100" b="1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8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18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15" name="Google Shape;115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0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20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34" name="Google Shape;134;p20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20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20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" name="Google Shape;137;p20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0"/>
          <p:cNvSpPr txBox="1"/>
          <p:nvPr/>
        </p:nvSpPr>
        <p:spPr>
          <a:xfrm>
            <a:off x="369075" y="90450"/>
            <a:ext cx="5176200" cy="84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0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Ex. 1.3: Launch file</a:t>
            </a:r>
            <a:endParaRPr sz="50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139" name="Google Shape;139;p20"/>
          <p:cNvSpPr txBox="1"/>
          <p:nvPr/>
        </p:nvSpPr>
        <p:spPr>
          <a:xfrm>
            <a:off x="190250" y="1043775"/>
            <a:ext cx="8462400" cy="32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b="1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We can avoid launching the nodes one at a time by using a launch file: basically a python scripts that launches multiple nodes together.</a:t>
            </a:r>
            <a:endParaRPr sz="2200" b="1">
              <a:solidFill>
                <a:schemeClr val="dk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200" b="1">
              <a:solidFill>
                <a:schemeClr val="dk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b="1">
                <a:solidFill>
                  <a:srgbClr val="DA2120"/>
                </a:solidFill>
                <a:latin typeface="Consolas"/>
                <a:ea typeface="Consolas"/>
                <a:cs typeface="Consolas"/>
                <a:sym typeface="Consolas"/>
              </a:rPr>
              <a:t>If you want to use vim/visual studio instead of downloading from Github, follow the steps in the presentation of last week!</a:t>
            </a:r>
            <a:endParaRPr sz="2200" b="1">
              <a:solidFill>
                <a:srgbClr val="DA212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100" b="1">
              <a:solidFill>
                <a:schemeClr val="dk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100" b="1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2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46" name="Google Shape;146;p21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21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21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1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1"/>
          <p:cNvSpPr txBox="1"/>
          <p:nvPr/>
        </p:nvSpPr>
        <p:spPr>
          <a:xfrm>
            <a:off x="369075" y="90450"/>
            <a:ext cx="49161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Ex. 1.3: Launch file</a:t>
            </a:r>
            <a:endParaRPr sz="48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151" name="Google Shape;151;p21"/>
          <p:cNvSpPr txBox="1"/>
          <p:nvPr/>
        </p:nvSpPr>
        <p:spPr>
          <a:xfrm>
            <a:off x="190250" y="1043775"/>
            <a:ext cx="8462400" cy="32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We can avoid launching the nodes one at a time by using a launch file: basically a python scripts that launches multiple nodes together.</a:t>
            </a:r>
            <a:endParaRPr sz="2000" b="1">
              <a:solidFill>
                <a:schemeClr val="dk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 b="1">
              <a:solidFill>
                <a:schemeClr val="dk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rgbClr val="DA2120"/>
                </a:solidFill>
                <a:latin typeface="Consolas"/>
                <a:ea typeface="Consolas"/>
                <a:cs typeface="Consolas"/>
                <a:sym typeface="Consolas"/>
              </a:rPr>
              <a:t>If you want to use vim/visual studio instead of downloading from Github, follow the steps in the presentation of last week!</a:t>
            </a:r>
            <a:endParaRPr sz="2000" b="1">
              <a:solidFill>
                <a:srgbClr val="DA212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100" b="1">
              <a:solidFill>
                <a:schemeClr val="dk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100" b="1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152" name="Google Shape;152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2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9" name="Google Shape;159;p22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22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22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22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2"/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Navigation problem</a:t>
            </a:r>
            <a:endParaRPr sz="55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164" name="Google Shape;164;p22"/>
          <p:cNvSpPr txBox="1"/>
          <p:nvPr/>
        </p:nvSpPr>
        <p:spPr>
          <a:xfrm>
            <a:off x="445675" y="1249025"/>
            <a:ext cx="8218800" cy="28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Imagine to be a UAV that wants to reach a target position (BL27).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pic>
        <p:nvPicPr>
          <p:cNvPr id="165" name="Google Shape;165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767750" y="1879750"/>
            <a:ext cx="3315850" cy="3096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" name="Google Shape;166;p2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095642" y="1937314"/>
            <a:ext cx="459956" cy="428397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p22" descr="a small white drone is flying in the air . (Provided by Tenor)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69850" y="2302025"/>
            <a:ext cx="2421475" cy="1614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2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74" name="Google Shape;174;p23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3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23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77" name="Google Shape;177;p23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23"/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Navigation problem</a:t>
            </a:r>
            <a:endParaRPr sz="55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179" name="Google Shape;179;p23"/>
          <p:cNvSpPr txBox="1"/>
          <p:nvPr/>
        </p:nvSpPr>
        <p:spPr>
          <a:xfrm>
            <a:off x="445675" y="1249025"/>
            <a:ext cx="8218800" cy="28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The first step is to understand the actual position on the map. 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We need a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GNSS module!</a:t>
            </a:r>
            <a:endParaRPr sz="36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pic>
        <p:nvPicPr>
          <p:cNvPr id="180" name="Google Shape;180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767750" y="1879750"/>
            <a:ext cx="3315850" cy="3096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1" name="Google Shape;181;p2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095642" y="1937314"/>
            <a:ext cx="459956" cy="428397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p23" descr="a small white drone is flying in the air . (Provided by Tenor)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526825" y="3378175"/>
            <a:ext cx="2016900" cy="1344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4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24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89" name="Google Shape;189;p24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0" name="Google Shape;190;p24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24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24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24"/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GNSS Module</a:t>
            </a:r>
            <a:endParaRPr sz="55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194" name="Google Shape;194;p24"/>
          <p:cNvSpPr txBox="1"/>
          <p:nvPr/>
        </p:nvSpPr>
        <p:spPr>
          <a:xfrm>
            <a:off x="311700" y="1214850"/>
            <a:ext cx="8218800" cy="28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pic>
        <p:nvPicPr>
          <p:cNvPr id="195" name="Google Shape;195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8275" y="1059389"/>
            <a:ext cx="1959400" cy="1422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24"/>
          <p:cNvPicPr preferRelativeResize="0"/>
          <p:nvPr/>
        </p:nvPicPr>
        <p:blipFill rotWithShape="1">
          <a:blip r:embed="rId5">
            <a:alphaModFix/>
          </a:blip>
          <a:srcRect t="7830" b="12836"/>
          <a:stretch/>
        </p:blipFill>
        <p:spPr>
          <a:xfrm>
            <a:off x="478275" y="2662354"/>
            <a:ext cx="1959400" cy="1544083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24"/>
          <p:cNvSpPr txBox="1"/>
          <p:nvPr/>
        </p:nvSpPr>
        <p:spPr>
          <a:xfrm>
            <a:off x="2971150" y="2525350"/>
            <a:ext cx="2147100" cy="7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</p:txBody>
      </p:sp>
      <p:sp>
        <p:nvSpPr>
          <p:cNvPr id="198" name="Google Shape;198;p24"/>
          <p:cNvSpPr txBox="1"/>
          <p:nvPr/>
        </p:nvSpPr>
        <p:spPr>
          <a:xfrm>
            <a:off x="2437675" y="1064863"/>
            <a:ext cx="6401400" cy="15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Multi Constellation </a:t>
            </a:r>
            <a:r>
              <a:rPr lang="en" sz="25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(GPS, Galileo BeiDou,GLONASS)</a:t>
            </a:r>
            <a:endParaRPr sz="25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Mono band (L1) 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1.5 m accuracy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199" name="Google Shape;199;p24"/>
          <p:cNvSpPr txBox="1"/>
          <p:nvPr/>
        </p:nvSpPr>
        <p:spPr>
          <a:xfrm>
            <a:off x="2363875" y="2657400"/>
            <a:ext cx="6401400" cy="15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Multi Constellation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Dual band (L1 &amp; L5)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0.8 m accuracy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25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25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06" name="Google Shape;206;p25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25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25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25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25"/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GNSS Module</a:t>
            </a:r>
            <a:endParaRPr sz="55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11" name="Google Shape;211;p25"/>
          <p:cNvSpPr txBox="1"/>
          <p:nvPr/>
        </p:nvSpPr>
        <p:spPr>
          <a:xfrm>
            <a:off x="369075" y="3554375"/>
            <a:ext cx="7276800" cy="7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GPGGA,172814.0,3723.46587704,N,12202.26957864,W,2,6,1.2,18.893,M,-25.669,M,2.0 0031*4F</a:t>
            </a:r>
            <a:endParaRPr sz="2000">
              <a:solidFill>
                <a:schemeClr val="dk2"/>
              </a:solidFill>
            </a:endParaRPr>
          </a:p>
        </p:txBody>
      </p:sp>
      <p:sp>
        <p:nvSpPr>
          <p:cNvPr id="212" name="Google Shape;212;p25"/>
          <p:cNvSpPr txBox="1"/>
          <p:nvPr/>
        </p:nvSpPr>
        <p:spPr>
          <a:xfrm>
            <a:off x="177025" y="1124663"/>
            <a:ext cx="5961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14300" marR="11430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404040"/>
                </a:solidFill>
                <a:latin typeface="Consolas"/>
                <a:ea typeface="Consolas"/>
                <a:cs typeface="Consolas"/>
                <a:sym typeface="Consolas"/>
              </a:rPr>
              <a:t>&gt;&gt; gps</a:t>
            </a:r>
            <a:r>
              <a:rPr lang="en" sz="1100">
                <a:solidFill>
                  <a:srgbClr val="666666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100">
                <a:solidFill>
                  <a:srgbClr val="404040"/>
                </a:solidFill>
                <a:latin typeface="Consolas"/>
                <a:ea typeface="Consolas"/>
                <a:cs typeface="Consolas"/>
                <a:sym typeface="Consolas"/>
              </a:rPr>
              <a:t>send_command(</a:t>
            </a:r>
            <a:r>
              <a:rPr lang="en" sz="1100">
                <a:solidFill>
                  <a:srgbClr val="4070A0"/>
                </a:solidFill>
                <a:latin typeface="Consolas"/>
                <a:ea typeface="Consolas"/>
                <a:cs typeface="Consolas"/>
                <a:sym typeface="Consolas"/>
              </a:rPr>
              <a:t>b'PMTK314,0,1,0,1,0,0,0,0,0,0,0,0,0,0,0,0,0,0,0'</a:t>
            </a:r>
            <a:r>
              <a:rPr lang="en" sz="1100">
                <a:solidFill>
                  <a:srgbClr val="404040"/>
                </a:solidFill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100">
              <a:solidFill>
                <a:srgbClr val="40404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13" name="Google Shape;213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699" y="1577000"/>
            <a:ext cx="4201574" cy="1892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6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26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20" name="Google Shape;220;p26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26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22" name="Google Shape;222;p26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23" name="Google Shape;223;p26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26"/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GNSS Module</a:t>
            </a:r>
            <a:endParaRPr sz="55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pic>
        <p:nvPicPr>
          <p:cNvPr id="225" name="Google Shape;225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0888" y="1190363"/>
            <a:ext cx="2143125" cy="2143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2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372050" y="979212"/>
            <a:ext cx="2578275" cy="24803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27" name="Google Shape;227;p2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000887" y="1086775"/>
            <a:ext cx="3142224" cy="2539950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26"/>
          <p:cNvSpPr txBox="1"/>
          <p:nvPr/>
        </p:nvSpPr>
        <p:spPr>
          <a:xfrm>
            <a:off x="868575" y="3589200"/>
            <a:ext cx="1148700" cy="60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LLA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29" name="Google Shape;229;p26"/>
          <p:cNvSpPr txBox="1"/>
          <p:nvPr/>
        </p:nvSpPr>
        <p:spPr>
          <a:xfrm>
            <a:off x="2272875" y="3589200"/>
            <a:ext cx="4724100" cy="60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Earth-Centered Earth-Fixed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30" name="Google Shape;230;p26"/>
          <p:cNvSpPr txBox="1"/>
          <p:nvPr/>
        </p:nvSpPr>
        <p:spPr>
          <a:xfrm>
            <a:off x="6843075" y="3589200"/>
            <a:ext cx="1148700" cy="60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ENU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pic>
        <p:nvPicPr>
          <p:cNvPr id="231" name="Google Shape;231;p26" descr="a red arrow on a white background points to the right (Provided by Tenor)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908975" y="1616286"/>
            <a:ext cx="1336900" cy="1049666"/>
          </a:xfrm>
          <a:prstGeom prst="rect">
            <a:avLst/>
          </a:prstGeom>
          <a:noFill/>
          <a:ln>
            <a:noFill/>
          </a:ln>
        </p:spPr>
      </p:pic>
      <p:pic>
        <p:nvPicPr>
          <p:cNvPr id="232" name="Google Shape;232;p26" descr="a red arrow on a white background points to the right (Provided by Tenor)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400300" y="1616286"/>
            <a:ext cx="1336900" cy="10496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7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8" name="Google Shape;238;p27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39" name="Google Shape;239;p27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27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41" name="Google Shape;241;p27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Google Shape;242;p27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27"/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Navigation problem</a:t>
            </a:r>
            <a:endParaRPr sz="55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44" name="Google Shape;244;p27"/>
          <p:cNvSpPr txBox="1"/>
          <p:nvPr/>
        </p:nvSpPr>
        <p:spPr>
          <a:xfrm>
            <a:off x="445675" y="1249025"/>
            <a:ext cx="8218800" cy="28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Now we know where we are (B15) and Luca gives us the trajectory, using 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the library Nav2.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Now, we need to follow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the path!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pic>
        <p:nvPicPr>
          <p:cNvPr id="245" name="Google Shape;245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767750" y="1879750"/>
            <a:ext cx="3315850" cy="3096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6" name="Google Shape;246;p2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095642" y="1937314"/>
            <a:ext cx="459956" cy="428397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27" descr="a small white drone is flying in the air . (Provided by Tenor)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087175" y="4095150"/>
            <a:ext cx="1318425" cy="878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27" descr="a black arrow is pointing up on a white background . (Provided by Tenor)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 rot="-4722017">
            <a:off x="5413001" y="2876725"/>
            <a:ext cx="2147945" cy="12350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28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28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55" name="Google Shape;255;p28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6" name="Google Shape;256;p28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7" name="Google Shape;257;p28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28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28"/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Navigation problem</a:t>
            </a:r>
            <a:endParaRPr sz="55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60" name="Google Shape;260;p28"/>
          <p:cNvSpPr txBox="1"/>
          <p:nvPr/>
        </p:nvSpPr>
        <p:spPr>
          <a:xfrm>
            <a:off x="311700" y="1214850"/>
            <a:ext cx="8218800" cy="28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We can increase the accuracy of the measurement with sensor fusion: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ntonio"/>
              <a:buChar char="-"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Luenberger observer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ntonio"/>
              <a:buChar char="-"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Kalman filter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ntonio"/>
              <a:buChar char="-"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MHE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ntonio"/>
              <a:buChar char="-"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…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pic>
        <p:nvPicPr>
          <p:cNvPr id="261" name="Google Shape;261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767750" y="1879750"/>
            <a:ext cx="3315850" cy="3096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2" name="Google Shape;262;p2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095642" y="1937314"/>
            <a:ext cx="459956" cy="428397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" name="Google Shape;263;p28" descr="a small white drone is flying in the air . (Provided by Tenor)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087175" y="4095150"/>
            <a:ext cx="1318425" cy="878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4" name="Google Shape;264;p28" descr="a black arrow is pointing up on a white background . (Provided by Tenor)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 rot="-4722017">
            <a:off x="5413001" y="2876725"/>
            <a:ext cx="2147945" cy="12350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29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29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71" name="Google Shape;271;p29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29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73" name="Google Shape;273;p29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74" name="Google Shape;274;p29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75" name="Google Shape;275;p29"/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Why use a sensor?</a:t>
            </a:r>
            <a:endParaRPr sz="55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76" name="Google Shape;276;p29"/>
          <p:cNvSpPr txBox="1"/>
          <p:nvPr/>
        </p:nvSpPr>
        <p:spPr>
          <a:xfrm>
            <a:off x="311700" y="1214850"/>
            <a:ext cx="8218800" cy="28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Trajectory: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ntonio"/>
              <a:buChar char="-"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GNSS: noisy especially on z axis.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ntonio"/>
              <a:buChar char="-"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Accelerometer: drift.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ntonio"/>
              <a:buChar char="-"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Barometer: good for z axis correction.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ntonio"/>
              <a:buChar char="-"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Encoder: for mobile robots.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ntonio"/>
              <a:buChar char="-"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Camera: for visual odometry (computational cost)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30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2" name="Google Shape;282;p30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83" name="Google Shape;283;p30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84" name="Google Shape;284;p30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85" name="Google Shape;285;p30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86" name="Google Shape;286;p30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87" name="Google Shape;287;p30"/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Why use a sensor?</a:t>
            </a:r>
            <a:endParaRPr sz="55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88" name="Google Shape;288;p30"/>
          <p:cNvSpPr txBox="1"/>
          <p:nvPr/>
        </p:nvSpPr>
        <p:spPr>
          <a:xfrm>
            <a:off x="311700" y="1214850"/>
            <a:ext cx="8218800" cy="28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Attitude: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ntonio"/>
              <a:buChar char="-"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Gyroscope: drift 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ntonio"/>
              <a:buChar char="-"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Accelerometer: can sense the gravity vector (as reaction force)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ntonio"/>
              <a:buChar char="-"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Magnetometer: can fill the north (perpendicular to g)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ntonio"/>
              <a:buChar char="-"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Camera: expensive.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3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4" name="Google Shape;294;p3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95" name="Google Shape;295;p31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96" name="Google Shape;296;p31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97" name="Google Shape;297;p31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98" name="Google Shape;298;p31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99" name="Google Shape;299;p31"/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Navigation problem</a:t>
            </a:r>
            <a:endParaRPr sz="55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300" name="Google Shape;300;p31"/>
          <p:cNvSpPr txBox="1"/>
          <p:nvPr/>
        </p:nvSpPr>
        <p:spPr>
          <a:xfrm>
            <a:off x="311700" y="1214850"/>
            <a:ext cx="8218800" cy="28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pic>
        <p:nvPicPr>
          <p:cNvPr id="301" name="Google Shape;301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3475" y="1238988"/>
            <a:ext cx="5115901" cy="2832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31" descr="a man is making a funny face and the words huh are visible (Provided by Tenor)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908550" y="2382119"/>
            <a:ext cx="2477726" cy="1696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8" name="Google Shape;308;p3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09" name="Google Shape;309;p32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10" name="Google Shape;310;p32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11" name="Google Shape;311;p32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32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32"/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Navigation problem</a:t>
            </a:r>
            <a:endParaRPr sz="55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314" name="Google Shape;314;p32"/>
          <p:cNvSpPr txBox="1"/>
          <p:nvPr/>
        </p:nvSpPr>
        <p:spPr>
          <a:xfrm>
            <a:off x="311700" y="1214850"/>
            <a:ext cx="8218800" cy="28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pic>
        <p:nvPicPr>
          <p:cNvPr id="315" name="Google Shape;315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47590" y="1144136"/>
            <a:ext cx="2147025" cy="30217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1" name="Google Shape;321;p3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22" name="Google Shape;322;p33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23" name="Google Shape;323;p33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24" name="Google Shape;324;p33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25" name="Google Shape;325;p33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26" name="Google Shape;326;p33"/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Let’s move to ROS!</a:t>
            </a:r>
            <a:endParaRPr sz="55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pic>
        <p:nvPicPr>
          <p:cNvPr id="327" name="Google Shape;327;p33" descr="a penguin wearing a black shirt with the letter b on it looks at a laptop (Provided by Tenor)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62687" y="1144325"/>
            <a:ext cx="3018625" cy="3018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/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ROS Bag</a:t>
            </a:r>
            <a:endParaRPr sz="55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090D813-742F-8B5B-61AC-6B9CF56A4101}"/>
              </a:ext>
            </a:extLst>
          </p:cNvPr>
          <p:cNvSpPr txBox="1"/>
          <p:nvPr/>
        </p:nvSpPr>
        <p:spPr>
          <a:xfrm>
            <a:off x="311700" y="1219200"/>
            <a:ext cx="8520592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Where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to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get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our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data?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can use a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rosbag</a:t>
            </a:r>
            <a:endParaRPr lang="it-IT" sz="24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endParaRPr lang="it-IT" sz="2400" b="1" dirty="0">
              <a:solidFill>
                <a:schemeClr val="bg2"/>
              </a:solidFill>
              <a:latin typeface="Consolas" panose="020B0609020204030204" pitchFamily="49" charset="0"/>
            </a:endParaRPr>
          </a:p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«A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bag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a file format for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storing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ROS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messages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»</a:t>
            </a:r>
          </a:p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can be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used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to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save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or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read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data.</a:t>
            </a:r>
          </a:p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In the reading «option»,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function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as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a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node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with multiple publishers, one for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each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topic</a:t>
            </a:r>
            <a:endParaRPr lang="it-IT" sz="2400" b="1" dirty="0">
              <a:solidFill>
                <a:schemeClr val="bg2"/>
              </a:solidFill>
              <a:latin typeface="Consolas" panose="020B0609020204030204" pitchFamily="49" charset="0"/>
            </a:endParaRPr>
          </a:p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contains</a:t>
            </a:r>
            <a:endParaRPr lang="it-IT" sz="2400" b="1" dirty="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FB7658BE-6B10-0116-72CC-75309EB0D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1A34B03E-52B4-9B03-1A5E-F9EA64126ED4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3D074A40-BA35-7132-C31A-943A12B4DB9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7B5214C6-6E10-C8EF-212F-2A7B8E7AD81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C35A8DA7-0A4B-E6B5-025E-A9A938E8013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54C87E50-BA0D-1220-F5F6-9EA2D418FE0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28CA5281-A607-4128-A0D0-62A62838E3D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73F1BAF7-3C45-CC77-2312-65F3EFEA91DD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ROS Bag</a:t>
            </a:r>
            <a:endParaRPr sz="55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F1B1DA64-8227-A58E-CECD-5CDBE56231C5}"/>
              </a:ext>
            </a:extLst>
          </p:cNvPr>
          <p:cNvSpPr txBox="1"/>
          <p:nvPr/>
        </p:nvSpPr>
        <p:spPr>
          <a:xfrm>
            <a:off x="311700" y="1219200"/>
            <a:ext cx="8520592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You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can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find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here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: 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  <a:hlinkClick r:id="rId4"/>
              </a:rPr>
              <a:t>https://drive.google.com/drive/folders/1_0r6vAFO9Ri0vHGDMjnbiCNLe6S428W9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(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needs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polispace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access)</a:t>
            </a:r>
          </a:p>
          <a:p>
            <a:endParaRPr lang="it-IT" sz="2400" b="1" dirty="0">
              <a:solidFill>
                <a:schemeClr val="bg2"/>
              </a:solidFill>
              <a:latin typeface="Consolas" panose="020B0609020204030204" pitchFamily="49" charset="0"/>
            </a:endParaRPr>
          </a:p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Save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inside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bags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folder (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you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can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find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in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github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folder for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this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lecture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Not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mandatory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, just to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have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it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together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with </a:t>
            </a:r>
          </a:p>
          <a:p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your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code</a:t>
            </a:r>
          </a:p>
        </p:txBody>
      </p:sp>
    </p:spTree>
    <p:extLst>
      <p:ext uri="{BB962C8B-B14F-4D97-AF65-F5344CB8AC3E}">
        <p14:creationId xmlns:p14="http://schemas.microsoft.com/office/powerpoint/2010/main" val="13246986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8FFD1ADD-079C-81D5-5290-478306C3B0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FD257125-CED6-64A0-E348-F035CBF1DE93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6979322B-35FA-01BB-A254-7AD266C3C31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12487A6B-75DE-682E-66D9-EBC282CEB99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60E13E70-0FB4-7D97-9856-472B1923C10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287D0B2D-C037-FDF9-64E8-70FA1E4BAA0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0226350E-FAE6-D4C4-1508-0AC26C24E2D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6B60A4EE-D0CE-A67A-9899-0BCEE0A80BF9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ROS Bag</a:t>
            </a:r>
            <a:endParaRPr sz="55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8E00F004-BD8A-7727-3DE6-C552EE674D06}"/>
              </a:ext>
            </a:extLst>
          </p:cNvPr>
          <p:cNvSpPr txBox="1"/>
          <p:nvPr/>
        </p:nvSpPr>
        <p:spPr>
          <a:xfrm>
            <a:off x="311700" y="1219200"/>
            <a:ext cx="85205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How de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know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which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topics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/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messages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are inside?</a:t>
            </a:r>
          </a:p>
          <a:p>
            <a:r>
              <a:rPr lang="it-IT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ros2 </a:t>
            </a:r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bag</a:t>
            </a:r>
            <a:r>
              <a:rPr lang="it-IT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 info rosbag_example.db3</a:t>
            </a:r>
          </a:p>
        </p:txBody>
      </p:sp>
      <p:pic>
        <p:nvPicPr>
          <p:cNvPr id="4" name="Immagine 3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4D2B5B2E-0FC9-78EE-6D12-C5DB095921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" y="2345510"/>
            <a:ext cx="9144000" cy="2282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00549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73D959EB-1C3F-6C4E-10C1-B356473F3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17ED4AA7-5DD3-BB19-3745-736A7890BF4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B19100A4-59BC-216F-5C0E-75A6C814EAE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7F34442B-DD38-0724-33B5-98160265B3A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B6040847-2511-9804-30D4-9D5FE63D8EA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4D702DF9-1CCE-A4D3-8315-0C9C7D83B25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08256638-A6BC-FF47-A9EF-5538139A19B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D9EC4C0F-50D8-E6E9-A4EF-892734670F60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 dirty="0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GPS conversion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7B549D3-61E0-1CAA-493B-240C834CC4EE}"/>
              </a:ext>
            </a:extLst>
          </p:cNvPr>
          <p:cNvSpPr txBox="1"/>
          <p:nvPr/>
        </p:nvSpPr>
        <p:spPr>
          <a:xfrm>
            <a:off x="311700" y="1219200"/>
            <a:ext cx="8520592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What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we’ll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do in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this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exercise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?</a:t>
            </a:r>
          </a:p>
          <a:p>
            <a:pPr marL="342900" indent="-342900">
              <a:buFontTx/>
              <a:buChar char="-"/>
            </a:pP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have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gps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data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collected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from a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real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robot inside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bag</a:t>
            </a:r>
            <a:endParaRPr lang="it-IT" sz="2400" b="1" dirty="0">
              <a:solidFill>
                <a:schemeClr val="bg2"/>
              </a:solidFill>
              <a:latin typeface="Consolas" panose="020B0609020204030204" pitchFamily="49" charset="0"/>
            </a:endParaRPr>
          </a:p>
          <a:p>
            <a:pPr marL="342900" indent="-342900">
              <a:buFontTx/>
              <a:buChar char="-"/>
            </a:pP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create a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node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that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subscribes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to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gps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data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topic</a:t>
            </a:r>
            <a:endParaRPr lang="it-IT" sz="2400" b="1" dirty="0">
              <a:solidFill>
                <a:schemeClr val="bg2"/>
              </a:solidFill>
              <a:latin typeface="Consolas" panose="020B0609020204030204" pitchFamily="49" charset="0"/>
            </a:endParaRPr>
          </a:p>
          <a:p>
            <a:pPr marL="342900" indent="-342900">
              <a:buFontTx/>
              <a:buChar char="-"/>
            </a:pP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This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info are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then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converted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into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odometry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 data</a:t>
            </a:r>
            <a:endParaRPr lang="it-IT" sz="2400" b="1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063410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9AC19BEE-A9C7-EBC8-9217-1CF380199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C8EFE95C-187A-5BA3-C0A2-39AC2B342394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4761658E-E0F8-F00E-9B60-0F50D2FB738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D5404847-1A13-B12A-F044-8ED7FF7B07E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B3CEE93F-49A0-5DF3-D609-24ED2282F2B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08166066-AA3B-0A59-9137-4137BDFDE86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33314FE3-4666-653F-F2F4-E91CF33D951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FB0C0D69-2F6C-EE32-9E71-47CFB3C834A1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 dirty="0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TF2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BD06EC9C-A178-2876-76E8-81881FE9D8F2}"/>
              </a:ext>
            </a:extLst>
          </p:cNvPr>
          <p:cNvSpPr txBox="1"/>
          <p:nvPr/>
        </p:nvSpPr>
        <p:spPr>
          <a:xfrm>
            <a:off x="311700" y="1219200"/>
            <a:ext cx="852059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odometry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then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needs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to be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converted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from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local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robot frame to the world frame.</a:t>
            </a:r>
          </a:p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Do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you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remember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your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i="1" dirty="0" err="1">
                <a:solidFill>
                  <a:schemeClr val="bg2"/>
                </a:solidFill>
                <a:latin typeface="Consolas" panose="020B0609020204030204" pitchFamily="49" charset="0"/>
              </a:rPr>
              <a:t>rotation</a:t>
            </a:r>
            <a:r>
              <a:rPr lang="it-IT" sz="2400" b="1" i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i="1" dirty="0" err="1">
                <a:solidFill>
                  <a:schemeClr val="bg2"/>
                </a:solidFill>
                <a:latin typeface="Consolas" panose="020B0609020204030204" pitchFamily="49" charset="0"/>
              </a:rPr>
              <a:t>matrices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?</a:t>
            </a:r>
          </a:p>
          <a:p>
            <a:endParaRPr lang="it-IT" sz="2400" b="1" dirty="0">
              <a:solidFill>
                <a:schemeClr val="bg2"/>
              </a:solidFill>
              <a:latin typeface="Consolas" panose="020B0609020204030204" pitchFamily="49" charset="0"/>
            </a:endParaRPr>
          </a:p>
          <a:p>
            <a:endParaRPr lang="it-IT" sz="2400" b="1" dirty="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pic>
        <p:nvPicPr>
          <p:cNvPr id="4" name="Immagine 3" descr="Immagine che contiene testo, tuta pressurizzata, astronauta&#10;&#10;Il contenuto generato dall'IA potrebbe non essere corretto.">
            <a:extLst>
              <a:ext uri="{FF2B5EF4-FFF2-40B4-BE49-F238E27FC236}">
                <a16:creationId xmlns:a16="http://schemas.microsoft.com/office/drawing/2014/main" id="{24DE08EE-B23C-990E-A50B-6933729BE3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7301" y="2497407"/>
            <a:ext cx="4229100" cy="2376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7880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6F861454-47DB-E2C8-14A9-3E90CECB92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636931B0-128B-108F-159B-D70A3D285DF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63CCF838-F796-59DF-E736-3AD41CFD2C8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0351BF95-5A6D-74F2-3515-E7D05991408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CECC058D-427E-4607-D7F6-370E90379E9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7E10B3E7-DE25-4FDC-4726-4AAA858121E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A976BD89-DA83-EEDD-C398-A4C9A20B739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C81D9BAA-B58F-23E9-2D15-0E0FB3B4C21B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 dirty="0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TF2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CFAB58B2-C1D4-2C8F-978C-9185C59FA03E}"/>
              </a:ext>
            </a:extLst>
          </p:cNvPr>
          <p:cNvSpPr txBox="1"/>
          <p:nvPr/>
        </p:nvSpPr>
        <p:spPr>
          <a:xfrm>
            <a:off x="311700" y="1219200"/>
            <a:ext cx="8520592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Luckily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for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us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, in ROS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there’s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a package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that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manages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all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coordinate frame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transformation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. </a:t>
            </a:r>
          </a:p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This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crucial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in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robotics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,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as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usually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have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a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lot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of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local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frames:</a:t>
            </a:r>
          </a:p>
          <a:p>
            <a:pPr marL="342900" indent="-342900">
              <a:buFontTx/>
              <a:buChar char="-"/>
            </a:pP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Camera</a:t>
            </a:r>
          </a:p>
          <a:p>
            <a:pPr marL="342900" indent="-342900">
              <a:buFontTx/>
              <a:buChar char="-"/>
            </a:pP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Lidar</a:t>
            </a:r>
          </a:p>
          <a:p>
            <a:pPr marL="342900" indent="-342900">
              <a:buFontTx/>
              <a:buChar char="-"/>
            </a:pP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Wheel</a:t>
            </a:r>
          </a:p>
          <a:p>
            <a:pPr marL="342900" indent="-342900">
              <a:buFontTx/>
              <a:buChar char="-"/>
            </a:pP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…</a:t>
            </a:r>
          </a:p>
          <a:p>
            <a:endParaRPr lang="it-IT" sz="2400" b="1" dirty="0">
              <a:solidFill>
                <a:schemeClr val="bg2"/>
              </a:solidFill>
              <a:latin typeface="Consolas" panose="020B0609020204030204" pitchFamily="49" charset="0"/>
            </a:endParaRPr>
          </a:p>
          <a:p>
            <a:endParaRPr lang="it-IT" sz="2400" b="1" dirty="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27456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4B3FC177-995B-AE6F-F9E0-1DEF244BB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C12E95B5-9B83-9CEC-F338-474F27CF0950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C2DA8255-527E-FDEC-574C-9183D226E44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E26C6232-2158-7CB9-3454-D19294B0664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0DF08983-8FD9-95C9-0B5D-1AC4D16342D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F18AF053-5247-37BE-E87A-9E484428F7C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5B4F8F41-DB10-5F9B-41CD-E8C77F70D57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C592DC21-E7AC-AB35-CBCB-61874E79322E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 dirty="0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TF2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B6CF916-B358-022C-8686-DFC321E75F75}"/>
              </a:ext>
            </a:extLst>
          </p:cNvPr>
          <p:cNvSpPr txBox="1"/>
          <p:nvPr/>
        </p:nvSpPr>
        <p:spPr>
          <a:xfrm>
            <a:off x="311700" y="1219200"/>
            <a:ext cx="8520592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For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this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reason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tend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to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transform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each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sensor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data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into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a common frame (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usually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related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to the robot or to a global frame).</a:t>
            </a:r>
          </a:p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It’s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also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essential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for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motion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planning and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localization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.</a:t>
            </a:r>
          </a:p>
          <a:p>
            <a:endParaRPr lang="it-IT" sz="2400" b="1" dirty="0">
              <a:solidFill>
                <a:schemeClr val="bg2"/>
              </a:solidFill>
              <a:latin typeface="Consolas" panose="020B0609020204030204" pitchFamily="49" charset="0"/>
            </a:endParaRPr>
          </a:p>
          <a:p>
            <a:endParaRPr lang="it-IT" sz="2400" b="1" dirty="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0272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97A872B5-CE99-E4E8-7A54-3FAA1C415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0CE79B55-5535-0458-AA74-4945908343D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178C989F-E122-45D1-43B8-A2E97C11B84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2263BBB3-63BD-2C6F-2A61-D192071DE55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6210FA0A-793D-7ABE-5904-0DB99986922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96A30ABA-48FA-34B1-879E-681850809C2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8C7C9FC5-3D23-859E-D700-AD9FA34F39F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44DDDA5C-0512-6886-57C2-252EA1EE03D2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G</a:t>
            </a:r>
            <a:r>
              <a:rPr lang="en" sz="5500" b="1" dirty="0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ps_to_odom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E28F9624-8C1F-E085-40A2-94B3C02C9FE7}"/>
              </a:ext>
            </a:extLst>
          </p:cNvPr>
          <p:cNvSpPr txBox="1"/>
          <p:nvPr/>
        </p:nvSpPr>
        <p:spPr>
          <a:xfrm>
            <a:off x="311700" y="1219200"/>
            <a:ext cx="852059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Let’s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go over the code for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gps_to_odom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node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In the public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section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have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a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subscriber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(to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receive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gps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data) and a publisher (to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send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odom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data).</a:t>
            </a:r>
          </a:p>
        </p:txBody>
      </p:sp>
      <p:pic>
        <p:nvPicPr>
          <p:cNvPr id="4" name="Immagine 3" descr="Immagine che contiene testo, schermata, software&#10;&#10;Il contenuto generato dall'IA potrebbe non essere corretto.">
            <a:extLst>
              <a:ext uri="{FF2B5EF4-FFF2-40B4-BE49-F238E27FC236}">
                <a16:creationId xmlns:a16="http://schemas.microsoft.com/office/drawing/2014/main" id="{BEC6A914-6386-0431-66DA-BA0E20AA85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3291" y="2505084"/>
            <a:ext cx="4391784" cy="2373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10775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8599BC6D-D9B2-D869-22F0-AA2BEC99A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FBA8484C-5DA0-7B3E-BDFA-BBAF22BEDB3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24F92674-EB7F-F238-E5B1-AE84C3ECE33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FB571A86-ACF6-FF81-F3A9-C8640403396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BCD4104B-DAF0-D09F-307D-392F697B8FE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13ECC206-5C81-74F5-3745-C170EB29CA1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AF300BCF-F02A-334F-A1BC-5F04929A627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38DE8639-3F5A-0100-81C6-CCBA680785B0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G</a:t>
            </a:r>
            <a:r>
              <a:rPr lang="en" sz="5500" b="1" dirty="0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ps_to_odom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E4DBC6E-7991-0E05-EA2A-EB02E79443BA}"/>
              </a:ext>
            </a:extLst>
          </p:cNvPr>
          <p:cNvSpPr txBox="1"/>
          <p:nvPr/>
        </p:nvSpPr>
        <p:spPr>
          <a:xfrm>
            <a:off x="4386146" y="1219200"/>
            <a:ext cx="444614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Then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,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there’s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a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bunch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of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formulas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to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convert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from LLA to ECEF to ENU. At the end of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callback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,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create the payload of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odometry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message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.</a:t>
            </a:r>
          </a:p>
        </p:txBody>
      </p:sp>
      <p:pic>
        <p:nvPicPr>
          <p:cNvPr id="5" name="Immagine 4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6BA8D648-FE17-560F-C7E7-2F93D3847E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035" y="1219199"/>
            <a:ext cx="4102288" cy="2780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847479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37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37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69" name="Google Shape;369;p37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70" name="Google Shape;370;p37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71" name="Google Shape;371;p37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72" name="Google Shape;372;p37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73" name="Google Shape;373;p37"/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LLA to ECEF</a:t>
            </a:r>
            <a:endParaRPr sz="55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374" name="Google Shape;374;p37"/>
          <p:cNvSpPr txBox="1"/>
          <p:nvPr/>
        </p:nvSpPr>
        <p:spPr>
          <a:xfrm>
            <a:off x="311700" y="1067550"/>
            <a:ext cx="8218800" cy="28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7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Let’s consider the latitude (ϕ), longitude (λ) and altitude (h):</a:t>
            </a:r>
            <a:endParaRPr sz="27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pic>
        <p:nvPicPr>
          <p:cNvPr id="375" name="Google Shape;375;p37" descr="{&quot;type&quot;:&quot;$$&quot;,&quot;backgroundColor&quot;:&quot;#FFFFFF&quot;,&quot;aid&quot;:null,&quot;font&quot;:{&quot;color&quot;:&quot;#595959&quot;,&quot;size&quot;:18,&quot;family&quot;:&quot;Arial&quot;},&quot;code&quot;:&quot;$$X=\\left(N\\left(\\phi\\right)+h\\right)\\cos\\left(\\phi\\right)\\cos\\left(\\lambda\\right)$$&quot;,&quot;id&quot;:&quot;1&quot;,&quot;backgroundColorModified&quot;:false,&quot;ts&quot;:1745764887270,&quot;cs&quot;:&quot;XTGWWKVi4iUMyDRpwJmgGw==&quot;,&quot;size&quot;:{&quot;width&quot;:370.3333333333333,&quot;height&quot;:28.333333333333332}}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0539" y="3311828"/>
            <a:ext cx="3527425" cy="269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76" name="Google Shape;376;p37" descr="{&quot;backgroundColorModified&quot;:false,&quot;id&quot;:&quot;2&quot;,&quot;backgroundColor&quot;:&quot;#FFFFFF&quot;,&quot;font&quot;:{&quot;color&quot;:&quot;#595959&quot;,&quot;family&quot;:&quot;Arial&quot;,&quot;size&quot;:18},&quot;code&quot;:&quot;$$Y=\\left(N\\left(\\phi\\right)+h\\right)\\cos\\left(\\phi\\right)\\sin\\left(\\lambda\\right)$$&quot;,&quot;aid&quot;:null,&quot;type&quot;:&quot;$$&quot;,&quot;ts&quot;:1745764898300,&quot;cs&quot;:&quot;fQdVdymlgWb1ql1Zf2qdEg==&quot;,&quot;size&quot;:{&quot;width&quot;:364.6666666666667,&quot;height&quot;:28.333333333333332}}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07525" y="3626727"/>
            <a:ext cx="3473450" cy="269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77" name="Google Shape;377;p37" descr="{&quot;backgroundColorModified&quot;:false,&quot;aid&quot;:null,&quot;code&quot;:&quot;$$Z=\\left(N\\left(\\phi\\right)\\left(1-e^{2}\\right)+h\\right)\\sin\\left(\\phi\\right)$$&quot;,&quot;id&quot;:&quot;3&quot;,&quot;backgroundColor&quot;:&quot;#FFFFFF&quot;,&quot;font&quot;:{&quot;family&quot;:&quot;Arial&quot;,&quot;size&quot;:18,&quot;color&quot;:&quot;#595959&quot;},&quot;type&quot;:&quot;$$&quot;,&quot;ts&quot;:1745764913162,&quot;cs&quot;:&quot;tn7LYvjWHOVDcis5wd3q8w==&quot;,&quot;size&quot;:{&quot;width&quot;:385.6666666666667,&quot;height&quot;:35}}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69065" y="3883595"/>
            <a:ext cx="3673475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78" name="Google Shape;378;p37" descr="{&quot;code&quot;:&quot;$$e^{2}=1-\\frac{b^{2}}{a^{2}}$$&quot;,&quot;font&quot;:{&quot;size&quot;:18,&quot;color&quot;:&quot;#595959&quot;,&quot;family&quot;:&quot;Arial&quot;},&quot;backgroundColor&quot;:&quot;#FFFFFF&quot;,&quot;type&quot;:&quot;$$&quot;,&quot;id&quot;:&quot;5&quot;,&quot;backgroundColorModified&quot;:false,&quot;aid&quot;:null,&quot;ts&quot;:1745764945896,&quot;cs&quot;:&quot;/U6TDuvFxz9y3ekNmN/8Zg==&quot;,&quot;size&quot;:{&quot;width&quot;:146.66666666666666,&quot;height&quot;:63.166666666666664}}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07526" y="1629389"/>
            <a:ext cx="1397000" cy="601663"/>
          </a:xfrm>
          <a:prstGeom prst="rect">
            <a:avLst/>
          </a:prstGeom>
          <a:noFill/>
          <a:ln>
            <a:noFill/>
          </a:ln>
        </p:spPr>
      </p:pic>
      <p:pic>
        <p:nvPicPr>
          <p:cNvPr id="379" name="Google Shape;379;p37" descr="{&quot;aid&quot;:null,&quot;id&quot;:&quot;6&quot;,&quot;backgroundColor&quot;:&quot;#FFFFFF&quot;,&quot;code&quot;:&quot;$$N\\left(\\phi\\right)=\\frac{a}{{\\sqrt[]{1-e^{2}\\sin^{2}\\left(\\phi\\right)}}}$$&quot;,&quot;backgroundColorModified&quot;:false,&quot;font&quot;:{&quot;family&quot;:&quot;Arial&quot;,&quot;color&quot;:&quot;#595959&quot;,&quot;size&quot;:18},&quot;type&quot;:&quot;$$&quot;,&quot;ts&quot;:1745764935275,&quot;cs&quot;:&quot;m547ICxofrJsKNpIRSOtaw==&quot;,&quot;size&quot;:{&quot;width&quot;:311.99999999999994,&quot;height&quot;:82.75}}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69081" y="2377338"/>
            <a:ext cx="2971800" cy="788194"/>
          </a:xfrm>
          <a:prstGeom prst="rect">
            <a:avLst/>
          </a:prstGeom>
          <a:noFill/>
          <a:ln>
            <a:noFill/>
          </a:ln>
        </p:spPr>
      </p:pic>
      <p:pic>
        <p:nvPicPr>
          <p:cNvPr id="380" name="Google Shape;380;p37" descr="{&quot;backgroundColorModified&quot;:false,&quot;backgroundColor&quot;:&quot;#FFFFFF&quot;,&quot;code&quot;:&quot;$$a=6378137\\,m$$&quot;,&quot;id&quot;:&quot;7&quot;,&quot;font&quot;:{&quot;color&quot;:&quot;#000000&quot;,&quot;family&quot;:&quot;Arial&quot;,&quot;size&quot;:24},&quot;aid&quot;:null,&quot;type&quot;:&quot;$$&quot;,&quot;ts&quot;:1745764988365,&quot;cs&quot;:&quot;qbSVUrjp9EABUDpK1QsLnQ==&quot;,&quot;size&quot;:{&quot;width&quot;:238.6000000000001,&quot;height&quot;:26.399999999999988}}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2761963" y="1664687"/>
            <a:ext cx="2272665" cy="25146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1" name="Google Shape;381;p37" descr="{&quot;id&quot;:&quot;8&quot;,&quot;code&quot;:&quot;$$b=6356752\\,m$$&quot;,&quot;backgroundColor&quot;:&quot;#FFFFFF&quot;,&quot;type&quot;:&quot;$$&quot;,&quot;font&quot;:{&quot;color&quot;:&quot;#000000&quot;,&quot;family&quot;:&quot;Arial&quot;,&quot;size&quot;:24},&quot;backgroundColorModified&quot;:false,&quot;aid&quot;:null,&quot;ts&quot;:1745764973855,&quot;cs&quot;:&quot;6MeLYJc6rOfB+0peAkmOeA==&quot;,&quot;size&quot;:{&quot;width&quot;:234.6000000000001,&quot;height&quot;:27}}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2761963" y="1973881"/>
            <a:ext cx="223456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38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7" name="Google Shape;387;p38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88" name="Google Shape;388;p38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89" name="Google Shape;389;p38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0" name="Google Shape;390;p38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38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92" name="Google Shape;392;p38"/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ECEF to ENU</a:t>
            </a:r>
            <a:endParaRPr sz="55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393" name="Google Shape;393;p38"/>
          <p:cNvSpPr txBox="1"/>
          <p:nvPr/>
        </p:nvSpPr>
        <p:spPr>
          <a:xfrm>
            <a:off x="311700" y="1214850"/>
            <a:ext cx="8218800" cy="28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pic>
        <p:nvPicPr>
          <p:cNvPr id="394" name="Google Shape;394;p38" descr="{&quot;code&quot;:&quot;$$\\begin{bmatrix}\n{x}\\\\\n{y}\\\\\n{z}\\\\\n\\end{bmatrix}=\\begin{bmatrix}\n{-\\sin\\left(\\lambda_{r}\\right)}&amp;{\\cos\\left(\\lambda_{r}\\right)}&amp;{0}\\\\\n{-\\sin\\left(\\phi_{r}\\right)\\cos\\left(\\lambda_{r}\\right)}&amp;{-\\sin\\left(\\phi_{r}\\right)\\sin\\left(\\lambda_{r}\\right)}&amp;{\\cos\\left(\\phi_{r}\\right)}\\\\\n{\\cos\\left(\\phi_{r}\\right)\\cos\\left(\\lambda_{r}\\right)}&amp;{\\cos\\left(\\phi_{r}\\right)\\sin\\left(\\lambda_{r}\\right)}&amp;{\\sin\\left(\\phi_{r}\\right)}\\\\\n\\end{bmatrix}\\begin{bmatrix}\n{X-X_{r}}\\\\\n{Y-Y_{r}}\\\\\n{Z-Z_{r}}\\\\\n\\end{bmatrix}$$&quot;,&quot;type&quot;:&quot;$$&quot;,&quot;id&quot;:&quot;9&quot;,&quot;backgroundColor&quot;:&quot;#FFFFFF&quot;,&quot;backgroundColorModified&quot;:false,&quot;font&quot;:{&quot;family&quot;:&quot;Arial&quot;,&quot;color&quot;:&quot;#595959&quot;,&quot;size&quot;:19.5},&quot;aid&quot;:null,&quot;ts&quot;:1745765556574,&quot;cs&quot;:&quot;JmJwCKPVQ7tevPEAmFsoSA==&quot;,&quot;size&quot;:{&quot;width&quot;:906.6325157480316,&quot;height&quot;:119.05249186351706}}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6627" y="1832513"/>
            <a:ext cx="8635675" cy="1133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FEFA1250-A669-4763-7AAE-2306D4F9B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6E5A3FD8-F9AA-00A4-F6E7-297FBA92557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114B4F0C-5F35-C4DE-9A2E-D13FDADE6DE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D43135A2-ECB0-9926-FEF5-66FB4E117F6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6912A7B8-E699-D153-F86B-3F49E0EE526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717B4A96-B337-F7CF-96D1-79E9800B3C4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975290FE-94AC-09CB-A9FA-9F3DB34028B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A1A22380-7A6B-3EBD-CDB5-39DD11C90DBD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Odom_to_tf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F92F9C0F-4EED-0B72-5BC6-043938CC6282}"/>
              </a:ext>
            </a:extLst>
          </p:cNvPr>
          <p:cNvSpPr txBox="1"/>
          <p:nvPr/>
        </p:nvSpPr>
        <p:spPr>
          <a:xfrm>
            <a:off x="369075" y="1219200"/>
            <a:ext cx="846321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Let’s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switch to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odom_to_tf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node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. First,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have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a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subscriber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for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odometry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messages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.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You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may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notice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that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it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subscribes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to a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topic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«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input_odom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»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that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is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not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the one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defined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before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…</a:t>
            </a:r>
          </a:p>
        </p:txBody>
      </p:sp>
      <p:pic>
        <p:nvPicPr>
          <p:cNvPr id="4" name="Immagine 3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71EDEFD8-FE29-BECE-8373-7E2E077B9D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042" y="2890577"/>
            <a:ext cx="4713536" cy="2067446"/>
          </a:xfrm>
          <a:prstGeom prst="rect">
            <a:avLst/>
          </a:prstGeom>
        </p:spPr>
      </p:pic>
      <p:pic>
        <p:nvPicPr>
          <p:cNvPr id="7" name="Immagine 6" descr="Immagine che contiene persona, vestiti, Viso umano, interno&#10;&#10;Il contenuto generato dall'IA potrebbe non essere corretto.">
            <a:extLst>
              <a:ext uri="{FF2B5EF4-FFF2-40B4-BE49-F238E27FC236}">
                <a16:creationId xmlns:a16="http://schemas.microsoft.com/office/drawing/2014/main" id="{B79292B7-4361-1FF6-F963-AB76C658FF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2870" y="2483771"/>
            <a:ext cx="2485259" cy="2541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13957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0FB9C801-35C1-B748-0A74-86F31FB7F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9C90F109-94FA-A4FA-9455-BF1A3B351304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E3C0B0B8-0F0C-A1EF-8996-F095BD2CD2C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F7337360-5765-1BCA-4AE4-382B788B1D3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E8DC191D-BDF0-1291-B2B1-BFE26775489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F7C29647-B35E-86C5-F13F-4552F4899DC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B6F6F16E-C42C-B4BA-19B0-FEE82CA7E61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EB3514C3-92DB-C7DF-E497-7CE00250971E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Odom_to_tf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595DEB61-1398-A799-E4F5-DECEB7A61818}"/>
              </a:ext>
            </a:extLst>
          </p:cNvPr>
          <p:cNvSpPr txBox="1"/>
          <p:nvPr/>
        </p:nvSpPr>
        <p:spPr>
          <a:xfrm>
            <a:off x="369075" y="1219200"/>
            <a:ext cx="846321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…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but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we’ll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see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later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why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.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As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for the publisher,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here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syntax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slightly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different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as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uses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the one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prescribed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by the tf2.</a:t>
            </a:r>
            <a:endParaRPr lang="it-IT" sz="2400" b="1" dirty="0">
              <a:solidFill>
                <a:srgbClr val="C00000"/>
              </a:solidFill>
              <a:latin typeface="Consolas" panose="020B0609020204030204" pitchFamily="49" charset="0"/>
            </a:endParaRPr>
          </a:p>
        </p:txBody>
      </p:sp>
      <p:pic>
        <p:nvPicPr>
          <p:cNvPr id="4" name="Immagine 3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285B0C3D-FF38-16C6-B5FB-08DCB2B719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2519" y="2505307"/>
            <a:ext cx="5378961" cy="2359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370015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E9C84E05-4AC9-3ADB-553C-41DC2DD700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349E0FE8-BC48-FB27-9B30-01777C70C66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8C986C39-E682-DF4A-86A8-5BD79558ADB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9DDEC0EC-2FE6-DEA1-E7C3-441F3CABAC9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81384359-27E0-9693-F578-02D14203A3F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266AB1A2-E0D4-A34C-3BBE-1884D22669E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9E5E43F7-C18B-C85D-3EE7-F9D5013BCEE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24740F33-5166-916B-47D7-650A6270B211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Odom_to_tf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359277E2-66A7-1E67-3F9C-D4B9112F3C02}"/>
              </a:ext>
            </a:extLst>
          </p:cNvPr>
          <p:cNvSpPr txBox="1"/>
          <p:nvPr/>
        </p:nvSpPr>
        <p:spPr>
          <a:xfrm>
            <a:off x="4750420" y="1174595"/>
            <a:ext cx="4081872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In the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callback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,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define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some offset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parameters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,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depending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on the frame from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which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receive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the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message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.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We’ll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also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see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the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reason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for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this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later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.</a:t>
            </a:r>
          </a:p>
        </p:txBody>
      </p:sp>
      <p:pic>
        <p:nvPicPr>
          <p:cNvPr id="5" name="Immagine 4" descr="Immagine che contiene testo, schermata, software, Carattere&#10;&#10;Il contenuto generato dall'IA potrebbe non essere corretto.">
            <a:extLst>
              <a:ext uri="{FF2B5EF4-FFF2-40B4-BE49-F238E27FC236}">
                <a16:creationId xmlns:a16="http://schemas.microsoft.com/office/drawing/2014/main" id="{47B8FD17-9AF9-C64E-C42A-7FCCB77D00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586" y="1298679"/>
            <a:ext cx="4312960" cy="2546141"/>
          </a:xfrm>
          <a:prstGeom prst="rect">
            <a:avLst/>
          </a:prstGeom>
        </p:spPr>
      </p:pic>
      <p:pic>
        <p:nvPicPr>
          <p:cNvPr id="7" name="Immagine 6" descr="Immagine che contiene testo, persona, Viso umano, aria aperta&#10;&#10;Il contenuto generato dall'IA potrebbe non essere corretto.">
            <a:extLst>
              <a:ext uri="{FF2B5EF4-FFF2-40B4-BE49-F238E27FC236}">
                <a16:creationId xmlns:a16="http://schemas.microsoft.com/office/drawing/2014/main" id="{66671776-9834-068D-FC36-CDDC0386F7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99" y="1396327"/>
            <a:ext cx="3137910" cy="2350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6245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2B096D74-EA8B-CD1D-61F1-CA2776D84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A483A048-9611-0537-9F16-C0B57B7CF454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A416141D-F070-727C-8189-7419A7C1F22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B0CFB502-080D-2E8E-CC4C-ED078ED3A08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AD4BC44D-0740-D25C-C029-6494EF618BA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13554A44-826F-8144-601F-8055D8A1B11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0268C3E6-76E4-8664-B842-C0CECBE4668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B98EB7B7-D9AF-2BA7-5717-62C755DD8091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Odom_to_tf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AD68846-B579-4868-41B1-72653A0869EC}"/>
              </a:ext>
            </a:extLst>
          </p:cNvPr>
          <p:cNvSpPr txBox="1"/>
          <p:nvPr/>
        </p:nvSpPr>
        <p:spPr>
          <a:xfrm>
            <a:off x="4750420" y="1174595"/>
            <a:ext cx="408187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And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now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have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tf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part.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are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simply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compiling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the fields of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tf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message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with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our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data.</a:t>
            </a:r>
          </a:p>
        </p:txBody>
      </p:sp>
      <p:pic>
        <p:nvPicPr>
          <p:cNvPr id="4" name="Immagine 3" descr="Immagine che contiene testo, schermata, software, Carattere&#10;&#10;Il contenuto generato dall'IA potrebbe non essere corretto.">
            <a:extLst>
              <a:ext uri="{FF2B5EF4-FFF2-40B4-BE49-F238E27FC236}">
                <a16:creationId xmlns:a16="http://schemas.microsoft.com/office/drawing/2014/main" id="{8D1DBFA1-3CFB-D10D-D1A0-D58EFF66D8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832" y="1021057"/>
            <a:ext cx="4266129" cy="4067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076074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83A479FD-B3F4-A7E4-73D7-662E0FCEE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02F8C96A-356A-4C94-5457-5F5FC084ED70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FE4BE9D0-D96B-4F68-BE2E-923ADC826AF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F4B6A691-9E92-B96B-5C2A-F99BD594237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BDDE4A52-F396-5D80-01F2-229B9DDDA95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0199CB3B-5586-BF39-9A91-72E974841B5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D8D74799-4FCE-44D7-745D-84B4495301A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AE7339E8-5756-8249-C73E-7C60C650A78B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GPS_conversion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F3CA226B-9975-BC6F-9767-3EF3C6DC2AAA}"/>
              </a:ext>
            </a:extLst>
          </p:cNvPr>
          <p:cNvSpPr txBox="1"/>
          <p:nvPr/>
        </p:nvSpPr>
        <p:spPr>
          <a:xfrm>
            <a:off x="311692" y="1174595"/>
            <a:ext cx="85206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can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now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launch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the code.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Remember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to:</a:t>
            </a:r>
          </a:p>
          <a:p>
            <a:r>
              <a:rPr lang="it-IT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source /</a:t>
            </a:r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opt</a:t>
            </a:r>
            <a:r>
              <a:rPr lang="it-IT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/ros/</a:t>
            </a:r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jazzy</a:t>
            </a:r>
            <a:r>
              <a:rPr lang="it-IT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/</a:t>
            </a:r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setup.bash</a:t>
            </a:r>
            <a:endParaRPr lang="it-IT" sz="2400" b="1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Enter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tmux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: </a:t>
            </a:r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tmux</a:t>
            </a:r>
            <a:endParaRPr lang="it-IT" sz="2400" b="1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Go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outside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gps_conversion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folder,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then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colcon</a:t>
            </a:r>
            <a:r>
              <a:rPr lang="it-IT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 build –packages-</a:t>
            </a:r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select</a:t>
            </a:r>
            <a:r>
              <a:rPr lang="it-IT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gps_conversion</a:t>
            </a:r>
            <a:endParaRPr lang="it-IT" sz="2400" b="1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it-IT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source ./</a:t>
            </a:r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install</a:t>
            </a:r>
            <a:r>
              <a:rPr lang="it-IT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/</a:t>
            </a:r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setup.bash</a:t>
            </a:r>
            <a:endParaRPr lang="it-IT" sz="2400" b="1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790090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69931275-8280-CC95-D8DD-C892C7128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344176C6-C4F9-4F18-3347-B02C6732BB35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CF5F9DBF-D33E-E3DF-9F30-A487D57F1F2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6A87F556-DC18-5AB8-193B-AD37DC8F632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3E14FE2C-0347-4977-275B-0E88DE7507E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3B793ACD-040B-FECB-5CCE-000EF4C024C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8A24240D-2B4B-39C0-B6D5-90E8BCDB265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9E7912B2-0274-FD56-7E70-48ADA9B4EAA0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GPS_conversion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81CABE5-4A8E-D86F-786A-5BCD1A0699A8}"/>
              </a:ext>
            </a:extLst>
          </p:cNvPr>
          <p:cNvSpPr txBox="1"/>
          <p:nvPr/>
        </p:nvSpPr>
        <p:spPr>
          <a:xfrm>
            <a:off x="311692" y="1174595"/>
            <a:ext cx="852060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can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now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launch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the code.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Remember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to:</a:t>
            </a:r>
          </a:p>
          <a:p>
            <a:r>
              <a:rPr lang="it-IT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source /</a:t>
            </a:r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opt</a:t>
            </a:r>
            <a:r>
              <a:rPr lang="it-IT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/ros/</a:t>
            </a:r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jazzy</a:t>
            </a:r>
            <a:r>
              <a:rPr lang="it-IT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/</a:t>
            </a:r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setup.bash</a:t>
            </a:r>
            <a:endParaRPr lang="it-IT" sz="2400" b="1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Enter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tmux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: </a:t>
            </a:r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tmux</a:t>
            </a:r>
            <a:endParaRPr lang="it-IT" sz="2400" b="1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Go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outside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gps_conversion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folder,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then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colcon</a:t>
            </a:r>
            <a:r>
              <a:rPr lang="it-IT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 build –packages-</a:t>
            </a:r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select</a:t>
            </a:r>
            <a:r>
              <a:rPr lang="it-IT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gps_conversion</a:t>
            </a:r>
            <a:endParaRPr lang="it-IT" sz="2400" b="1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it-IT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source ./</a:t>
            </a:r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install</a:t>
            </a:r>
            <a:r>
              <a:rPr lang="it-IT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/</a:t>
            </a:r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setup.bash</a:t>
            </a:r>
            <a:endParaRPr lang="it-IT" sz="2400" b="1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it-IT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ros2 </a:t>
            </a:r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launch</a:t>
            </a:r>
            <a:r>
              <a:rPr lang="it-IT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gps_conversion</a:t>
            </a:r>
            <a:r>
              <a:rPr lang="it-IT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 conversion_launch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.py </a:t>
            </a:r>
          </a:p>
          <a:p>
            <a:endParaRPr lang="it-IT" sz="2400" b="1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515583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0DAB6591-DCC6-3625-5494-C9D9DA7F7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F6C509DA-5018-7AD1-643D-90DBB7518BC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E75ACE11-1DD2-F49E-7B86-145FFD6E2E0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270132D3-E68C-11A5-8D96-ABEE399809E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E9A286DB-92D5-F975-3859-D03C2EC8489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FDC3230C-2322-9095-C85A-9E0954D2319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3F6182F1-0C22-F68C-FCA8-26D1DA5E21A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A78B560C-441D-E1D6-CCC4-A4AE031F1760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RViz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8EB023CF-E207-B7AC-8B90-25930C02DC03}"/>
              </a:ext>
            </a:extLst>
          </p:cNvPr>
          <p:cNvSpPr txBox="1"/>
          <p:nvPr/>
        </p:nvSpPr>
        <p:spPr>
          <a:xfrm>
            <a:off x="311692" y="1174595"/>
            <a:ext cx="8520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Surprise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!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This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RViz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, a tool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used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for Robot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visualization</a:t>
            </a:r>
            <a:endParaRPr lang="it-IT" sz="2400" b="1" dirty="0">
              <a:solidFill>
                <a:schemeClr val="bg2"/>
              </a:solidFill>
              <a:latin typeface="Consolas" panose="020B0609020204030204" pitchFamily="49" charset="0"/>
            </a:endParaRPr>
          </a:p>
          <a:p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You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should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see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this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:</a:t>
            </a:r>
          </a:p>
        </p:txBody>
      </p:sp>
      <p:pic>
        <p:nvPicPr>
          <p:cNvPr id="4" name="Immagine 3" descr="Immagine che contiene testo, schermata, software, Software multimediale&#10;&#10;Il contenuto generato dall'IA potrebbe non essere corretto.">
            <a:extLst>
              <a:ext uri="{FF2B5EF4-FFF2-40B4-BE49-F238E27FC236}">
                <a16:creationId xmlns:a16="http://schemas.microsoft.com/office/drawing/2014/main" id="{87044934-1F22-DA5D-3A4E-595826DBC9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771" y="1715675"/>
            <a:ext cx="4346759" cy="3231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655269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B1C0C42B-7365-4222-0ED1-EAB587044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A93FB679-FDFE-4FE0-B11D-C0BA3EAA7298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8F99EBA5-CBFB-8E6D-A459-5F8B18F7822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B1E5D9E8-8946-5F5A-2508-6AB9F5EB1A0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750FF40A-04B0-309C-29DE-6B9EF879EEA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E7214022-4F55-063B-5D6B-942047595BA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5210A6D8-944D-A515-4369-2516D1FB7AC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C801F9D5-51EC-301F-41BD-A69624868F4C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RViz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B7486F79-621A-0034-AB8F-68DCE777A10C}"/>
              </a:ext>
            </a:extLst>
          </p:cNvPr>
          <p:cNvSpPr txBox="1"/>
          <p:nvPr/>
        </p:nvSpPr>
        <p:spPr>
          <a:xfrm>
            <a:off x="311692" y="1174595"/>
            <a:ext cx="852060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opened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because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was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declared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inside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launch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file. </a:t>
            </a:r>
          </a:p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What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you’re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seeing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now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it’s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the standard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configuration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: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let’s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add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something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to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.</a:t>
            </a:r>
          </a:p>
          <a:p>
            <a:endParaRPr lang="it-IT" sz="2400" b="1" dirty="0">
              <a:solidFill>
                <a:schemeClr val="bg2"/>
              </a:solidFill>
              <a:latin typeface="Consolas" panose="020B0609020204030204" pitchFamily="49" charset="0"/>
            </a:endParaRPr>
          </a:p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First,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let’s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change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the frame</a:t>
            </a:r>
          </a:p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from the standard [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map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to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our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global frame [world]:</a:t>
            </a:r>
            <a:endParaRPr lang="it-IT" sz="2400" b="1" dirty="0">
              <a:solidFill>
                <a:srgbClr val="C00000"/>
              </a:solidFill>
              <a:latin typeface="Consolas" panose="020B0609020204030204" pitchFamily="49" charset="0"/>
            </a:endParaRPr>
          </a:p>
        </p:txBody>
      </p:sp>
      <p:pic>
        <p:nvPicPr>
          <p:cNvPr id="5" name="Immagine 4" descr="Immagine che contiene testo, software, Icona del computer, Pagina Web&#10;&#10;Il contenuto generato dall'IA potrebbe non essere corretto.">
            <a:extLst>
              <a:ext uri="{FF2B5EF4-FFF2-40B4-BE49-F238E27FC236}">
                <a16:creationId xmlns:a16="http://schemas.microsoft.com/office/drawing/2014/main" id="{C7C000ED-82E2-E3A1-12D0-65EE519C58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1242" y="2808341"/>
            <a:ext cx="3444713" cy="1874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08261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D8A10F6B-6A34-63F5-4510-FBD8FF683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8FCB9110-0E4E-F0A6-E6E6-B5448A03F588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B01CBE3A-CCF9-0FB3-65F7-F8C073A2557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C0AC7EEC-4885-113B-B709-EDD2E6EC543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8F2DEA94-E786-142E-EA98-6A68388F09A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36CD536E-FA7A-69EB-F0A0-7069F4B39B4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95FE1772-F880-DBD2-09A8-80CBB1DD89F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0D799405-9F5D-4FC3-9F2E-92B963C34480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RViz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80B997A5-EFE8-E484-C278-C41FE5A9BE9B}"/>
              </a:ext>
            </a:extLst>
          </p:cNvPr>
          <p:cNvSpPr txBox="1"/>
          <p:nvPr/>
        </p:nvSpPr>
        <p:spPr>
          <a:xfrm>
            <a:off x="311692" y="1174595"/>
            <a:ext cx="460971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Now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click on «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Add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» on the bottom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left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to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add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something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to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visualize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.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You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should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see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this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---&gt;</a:t>
            </a:r>
          </a:p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From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here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,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select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the TF.</a:t>
            </a:r>
            <a:endParaRPr lang="it-IT" sz="2400" b="1" dirty="0">
              <a:solidFill>
                <a:srgbClr val="C00000"/>
              </a:solidFill>
              <a:latin typeface="Consolas" panose="020B0609020204030204" pitchFamily="49" charset="0"/>
            </a:endParaRPr>
          </a:p>
        </p:txBody>
      </p:sp>
      <p:pic>
        <p:nvPicPr>
          <p:cNvPr id="4" name="Immagine 3" descr="Immagine che contiene testo, schermata, software, schermo&#10;&#10;Il contenuto generato dall'IA potrebbe non essere corretto.">
            <a:extLst>
              <a:ext uri="{FF2B5EF4-FFF2-40B4-BE49-F238E27FC236}">
                <a16:creationId xmlns:a16="http://schemas.microsoft.com/office/drawing/2014/main" id="{D430826D-07ED-1732-E817-1A5C59D4A0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2244" y="744575"/>
            <a:ext cx="2980396" cy="4036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779287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9F656DC5-5786-B665-F818-8A51DCDA2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7EC6EA72-8ACE-5D86-C605-3389FFD10286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6E1112DB-EAF7-F166-C179-4BF01E34A82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B6D7FBF6-E1DB-68B4-39AB-638BE42DFB4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77C5EF34-F207-AE4F-EB9F-8629DFE9711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C0092DF5-173F-2D1F-2546-CE62544A086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FC401C3F-C049-7944-8E3E-8625B36D355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1CF45363-74DF-C187-B053-3155F2B059E9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RViz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7E6A85E-159C-6004-6CC3-CDDAC82CFF56}"/>
              </a:ext>
            </a:extLst>
          </p:cNvPr>
          <p:cNvSpPr txBox="1"/>
          <p:nvPr/>
        </p:nvSpPr>
        <p:spPr>
          <a:xfrm>
            <a:off x="311692" y="1174595"/>
            <a:ext cx="4609713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You’ll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now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see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the TF on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left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window.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can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change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some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parameters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to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have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a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better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visualization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Show names: [on]</a:t>
            </a:r>
          </a:p>
          <a:p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Marker Scale: 15 (+)</a:t>
            </a:r>
          </a:p>
        </p:txBody>
      </p:sp>
      <p:pic>
        <p:nvPicPr>
          <p:cNvPr id="5" name="Immagine 4" descr="Immagine che contiene testo, schermata, software, Carattere&#10;&#10;Il contenuto generato dall'IA potrebbe non essere corretto.">
            <a:extLst>
              <a:ext uri="{FF2B5EF4-FFF2-40B4-BE49-F238E27FC236}">
                <a16:creationId xmlns:a16="http://schemas.microsoft.com/office/drawing/2014/main" id="{C1CD1411-1AFD-E1AD-C532-B94749A30F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7920" y="1174595"/>
            <a:ext cx="3658111" cy="2924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353887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B0C73F9E-1E32-FBA8-8D49-D126E5F09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1E7807DD-91F3-CFDD-0B4E-A1E38C5F780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C2AECA19-90F3-D14D-24C6-3138472E03C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3BD03473-2793-3C67-B56C-3F768C7A5E8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D6C3A806-5228-4786-C821-BDCB831B79B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DF3E7FB0-E3EB-1608-59EC-59EFA4DBA53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9D74EE23-B20D-4C6E-2409-7B98FE193D0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EA317EB7-9B46-3DAE-DF90-7DB50C9F9632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RViz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8CBFB5B-EED3-55F4-3922-91D8DB8CF2DB}"/>
              </a:ext>
            </a:extLst>
          </p:cNvPr>
          <p:cNvSpPr txBox="1"/>
          <p:nvPr/>
        </p:nvSpPr>
        <p:spPr>
          <a:xfrm>
            <a:off x="311692" y="1174595"/>
            <a:ext cx="460971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can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also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visualize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odometry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. </a:t>
            </a:r>
          </a:p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Click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add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and go to the «by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topic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»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view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,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then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select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gps_odom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.</a:t>
            </a:r>
            <a:endParaRPr lang="it-IT" sz="2400" b="1" dirty="0">
              <a:solidFill>
                <a:srgbClr val="C00000"/>
              </a:solidFill>
              <a:latin typeface="Consolas" panose="020B0609020204030204" pitchFamily="49" charset="0"/>
            </a:endParaRPr>
          </a:p>
        </p:txBody>
      </p:sp>
      <p:pic>
        <p:nvPicPr>
          <p:cNvPr id="4" name="Immagine 3" descr="Immagine che contiene testo, schermata, schermo, software&#10;&#10;Il contenuto generato dall'IA potrebbe non essere corretto.">
            <a:extLst>
              <a:ext uri="{FF2B5EF4-FFF2-40B4-BE49-F238E27FC236}">
                <a16:creationId xmlns:a16="http://schemas.microsoft.com/office/drawing/2014/main" id="{2A363E42-F435-5298-222D-78D7CFFC2F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8072" y="540775"/>
            <a:ext cx="3331637" cy="4177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810584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6D948422-A393-7FF4-DC5B-1B93169BB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9C86B4DB-815F-58F3-F870-5099A2556A8A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D180D794-D888-BD7B-1BCD-AD3ECB5F208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C7443FE9-ACBA-77B0-39AF-24CF3542CCD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8F2CD186-6410-08A2-1A89-69A4E413AD2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9CD6E5EB-9860-07DB-7356-BE38B4A1199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41B6373E-974A-32FD-C6F8-24A1ACB0BE9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D544F022-1621-FC7B-1267-DFE3435084A4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RViz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0DDAE1D-A5A1-C02A-B4DA-6D87E59072AE}"/>
              </a:ext>
            </a:extLst>
          </p:cNvPr>
          <p:cNvSpPr txBox="1"/>
          <p:nvPr/>
        </p:nvSpPr>
        <p:spPr>
          <a:xfrm>
            <a:off x="311692" y="1174595"/>
            <a:ext cx="4609713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Now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just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change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a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parameter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to make sure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that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you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don’t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lose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any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message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:</a:t>
            </a:r>
          </a:p>
          <a:p>
            <a:endParaRPr lang="it-IT" sz="2400" b="1" dirty="0">
              <a:solidFill>
                <a:schemeClr val="bg2"/>
              </a:solidFill>
              <a:latin typeface="Consolas" panose="020B0609020204030204" pitchFamily="49" charset="0"/>
            </a:endParaRPr>
          </a:p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History policy: [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Keep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All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]</a:t>
            </a:r>
          </a:p>
          <a:p>
            <a:endParaRPr lang="it-IT" sz="2400" b="1" dirty="0">
              <a:solidFill>
                <a:srgbClr val="C00000"/>
              </a:solidFill>
              <a:latin typeface="Consolas" panose="020B0609020204030204" pitchFamily="49" charset="0"/>
            </a:endParaRPr>
          </a:p>
        </p:txBody>
      </p:sp>
      <p:pic>
        <p:nvPicPr>
          <p:cNvPr id="5" name="Immagine 4" descr="Immagine che contiene testo, schermata, software, Icona del computer&#10;&#10;Il contenuto generato dall'IA potrebbe non essere corretto.">
            <a:extLst>
              <a:ext uri="{FF2B5EF4-FFF2-40B4-BE49-F238E27FC236}">
                <a16:creationId xmlns:a16="http://schemas.microsoft.com/office/drawing/2014/main" id="{D8138717-6DC6-D7AB-541F-21CBC4A1B2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7918" y="933622"/>
            <a:ext cx="3696216" cy="3801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493428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BD1BC54F-BEC6-0275-73B2-2037092DC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68B8C16A-CEFD-45F8-A187-E9DFC9790D47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A6653801-7D41-48E1-EEC0-75830693013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7B9A95B2-C59A-9AC4-E6FD-45F97089FCC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8AF9E448-3C0C-409A-5738-B27226DAB86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D0AD0128-B6F5-B9E7-2314-AC82AA2C170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098939F2-316B-1F6D-C596-A0D55969D7D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8F2EB693-6C80-7EAF-9349-E9560881CC8D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RViz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7CA6E56D-6475-5E9E-ABFD-818F292ABDF7}"/>
              </a:ext>
            </a:extLst>
          </p:cNvPr>
          <p:cNvSpPr txBox="1"/>
          <p:nvPr/>
        </p:nvSpPr>
        <p:spPr>
          <a:xfrm>
            <a:off x="311692" y="1174595"/>
            <a:ext cx="843086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Our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nodes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are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already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running and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rviz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ready, so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let’s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start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bag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Open a new terminal </a:t>
            </a:r>
            <a:r>
              <a:rPr lang="en" sz="2400" b="1" dirty="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(Win/Ub: Ctrl+b then %), go inside the bag folder </a:t>
            </a:r>
            <a:r>
              <a:rPr lang="en" sz="2400" b="1" dirty="0">
                <a:solidFill>
                  <a:srgbClr val="C00000"/>
                </a:solidFill>
                <a:latin typeface="Consolas"/>
                <a:ea typeface="Consolas"/>
                <a:cs typeface="Consolas"/>
                <a:sym typeface="Consolas"/>
              </a:rPr>
              <a:t>(or wherever you saved the bag)</a:t>
            </a:r>
            <a:r>
              <a:rPr lang="en" sz="2400" b="1" dirty="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 and:</a:t>
            </a:r>
          </a:p>
          <a:p>
            <a:r>
              <a:rPr lang="en" sz="2400" b="1" dirty="0">
                <a:solidFill>
                  <a:schemeClr val="tx1"/>
                </a:solidFill>
                <a:latin typeface="Consolas"/>
                <a:sym typeface="Consolas"/>
              </a:rPr>
              <a:t>ros2 bag play rosbag_example.db3 </a:t>
            </a:r>
            <a:endParaRPr lang="it-IT" sz="2400" b="1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endParaRPr lang="it-IT" sz="2400" b="1" dirty="0">
              <a:solidFill>
                <a:srgbClr val="C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00670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2815BF92-A745-FC2D-4C3D-58B5B8AFA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4EB8556D-F880-01E0-B949-150FCDF07D5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BEB7F724-0097-6ECA-9B8E-8BCA1E7C18F7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43E68EDD-A1F9-42DA-20C9-07B2860BBB7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35B2C1DE-4597-1FA7-C23D-44A8308CE02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1D972E65-25A7-C600-DC31-4E75DD72442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AAC83BAA-7031-20F6-8837-1C9450B6FD0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250B776D-BC0E-1358-E198-AC22D8B882A1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Play the </a:t>
            </a: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bag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F5FA3493-47CA-AD48-A448-5855AF720E70}"/>
              </a:ext>
            </a:extLst>
          </p:cNvPr>
          <p:cNvSpPr txBox="1"/>
          <p:nvPr/>
        </p:nvSpPr>
        <p:spPr>
          <a:xfrm>
            <a:off x="311692" y="1174595"/>
            <a:ext cx="843086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Our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nodes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are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already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running and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rviz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ready, so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let’s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start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bag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Open a new terminal </a:t>
            </a:r>
            <a:r>
              <a:rPr lang="en" sz="2400" b="1" dirty="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(Win/Ub: Ctrl+b then %), go inside the bag folder </a:t>
            </a:r>
            <a:r>
              <a:rPr lang="en" sz="2400" b="1" dirty="0">
                <a:solidFill>
                  <a:srgbClr val="C00000"/>
                </a:solidFill>
                <a:latin typeface="Consolas"/>
                <a:ea typeface="Consolas"/>
                <a:cs typeface="Consolas"/>
                <a:sym typeface="Consolas"/>
              </a:rPr>
              <a:t>(or wherever you saved the bag)</a:t>
            </a:r>
            <a:r>
              <a:rPr lang="en" sz="2400" b="1" dirty="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 and:</a:t>
            </a:r>
          </a:p>
          <a:p>
            <a:r>
              <a:rPr lang="en" sz="2400" b="1" dirty="0">
                <a:solidFill>
                  <a:schemeClr val="tx1"/>
                </a:solidFill>
                <a:latin typeface="Consolas"/>
                <a:sym typeface="Consolas"/>
              </a:rPr>
              <a:t>ros2 bag play rosbag_example.db3 </a:t>
            </a:r>
            <a:endParaRPr lang="it-IT" sz="2400" b="1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endParaRPr lang="it-IT" sz="2400" b="1" dirty="0">
              <a:solidFill>
                <a:srgbClr val="C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289838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197BBECB-0FE6-4A35-F59A-38F4A54E4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0E06C177-9918-4453-01BA-9B0B24787C46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7150DC7B-0305-D743-9DB2-A641B5E6F0C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80E6C665-7F27-FAFA-6C01-61AD5DE131F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E3B556C3-9826-4419-3085-526126C3461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48EEB921-C16B-7E62-62C9-23DDBA1333E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BD513031-DFB6-56A2-84AA-01EEB22B854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BFE16B7E-C2D6-AF0C-FA9B-28265CE9CF00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Play the </a:t>
            </a: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bag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E2280670-DCD5-F1BD-DB04-D45EDE244BDB}"/>
              </a:ext>
            </a:extLst>
          </p:cNvPr>
          <p:cNvSpPr txBox="1"/>
          <p:nvPr/>
        </p:nvSpPr>
        <p:spPr>
          <a:xfrm>
            <a:off x="311692" y="1174595"/>
            <a:ext cx="843086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Don’t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worry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about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the warning,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they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are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there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because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didn’t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install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a package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needed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to elaborate some of the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messages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inside the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bag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(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not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the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ones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that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interests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us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)</a:t>
            </a:r>
          </a:p>
        </p:txBody>
      </p:sp>
      <p:pic>
        <p:nvPicPr>
          <p:cNvPr id="4" name="Immagine 3" descr="Immagine che contiene testo, schermata, Carattere, software&#10;&#10;Il contenuto generato dall'IA potrebbe non essere corretto.">
            <a:extLst>
              <a:ext uri="{FF2B5EF4-FFF2-40B4-BE49-F238E27FC236}">
                <a16:creationId xmlns:a16="http://schemas.microsoft.com/office/drawing/2014/main" id="{7013681A-15B6-B3A4-C9CF-CB308EAB38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065" y="2834125"/>
            <a:ext cx="7776117" cy="1773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375072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0936772F-2195-281F-CABB-C66C73B0A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1CC8D791-D4C0-727A-9EFD-003C816A39CD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677B0736-D013-499E-1263-2929A455BE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C2E2447D-533F-25B1-EE4D-3C018A86223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3CA9A097-3B71-5B7E-C0ED-07644E91BF8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39D8AC62-D29C-2FF7-14AE-2CD17064E8B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BB99ABBE-4019-85B8-6364-322C7470775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D5AD75CB-117C-4D28-ABDA-547CA377C8AB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What</a:t>
            </a:r>
            <a:r>
              <a:rPr lang="it-IT" sz="5500" b="1" dirty="0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 </a:t>
            </a: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you</a:t>
            </a:r>
            <a:r>
              <a:rPr lang="it-IT" sz="5500" b="1" dirty="0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 </a:t>
            </a: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should</a:t>
            </a:r>
            <a:r>
              <a:rPr lang="it-IT" sz="5500" b="1" dirty="0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 </a:t>
            </a: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see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pic>
        <p:nvPicPr>
          <p:cNvPr id="5" name="Immagine 4" descr="Immagine che contiene schermata, Software multimediale, software, Software per la grafica&#10;&#10;Il contenuto generato dall'IA potrebbe non essere corretto.">
            <a:extLst>
              <a:ext uri="{FF2B5EF4-FFF2-40B4-BE49-F238E27FC236}">
                <a16:creationId xmlns:a16="http://schemas.microsoft.com/office/drawing/2014/main" id="{9E5E018A-4A45-47AF-E1A0-D9B052604F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4870" y="1081550"/>
            <a:ext cx="4878729" cy="3940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33343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8">
          <a:extLst>
            <a:ext uri="{FF2B5EF4-FFF2-40B4-BE49-F238E27FC236}">
              <a16:creationId xmlns:a16="http://schemas.microsoft.com/office/drawing/2014/main" id="{1D35F423-D9F2-CE5B-62E4-90FA7150B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37">
            <a:extLst>
              <a:ext uri="{FF2B5EF4-FFF2-40B4-BE49-F238E27FC236}">
                <a16:creationId xmlns:a16="http://schemas.microsoft.com/office/drawing/2014/main" id="{BC72681F-3975-A0DF-B47E-8A3EDD00607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70" name="Google Shape;370;p37" title="ChatGPT Image 26 apr 2025, 11_32_01.png">
            <a:extLst>
              <a:ext uri="{FF2B5EF4-FFF2-40B4-BE49-F238E27FC236}">
                <a16:creationId xmlns:a16="http://schemas.microsoft.com/office/drawing/2014/main" id="{B7311B1B-E5E2-0670-D795-02555F6BBA13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2277" r="94354"/>
          <a:stretch/>
        </p:blipFill>
        <p:spPr>
          <a:xfrm>
            <a:off x="142050" y="0"/>
            <a:ext cx="780177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71" name="Google Shape;371;p37" title="ChatGPT Image 26 apr 2025, 11_32_01.png">
            <a:extLst>
              <a:ext uri="{FF2B5EF4-FFF2-40B4-BE49-F238E27FC236}">
                <a16:creationId xmlns:a16="http://schemas.microsoft.com/office/drawing/2014/main" id="{4E08D6FC-2330-D14C-DA29-67A481433AD4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r="98158"/>
          <a:stretch/>
        </p:blipFill>
        <p:spPr>
          <a:xfrm>
            <a:off x="0" y="0"/>
            <a:ext cx="196723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72" name="Google Shape;372;p37" title="ChatGPT Image 26 apr 2025, 11_32_01.png">
            <a:extLst>
              <a:ext uri="{FF2B5EF4-FFF2-40B4-BE49-F238E27FC236}">
                <a16:creationId xmlns:a16="http://schemas.microsoft.com/office/drawing/2014/main" id="{1AEC7E4D-43A3-5E73-BDBA-3EA46CF5D35A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5621" r="2516"/>
          <a:stretch/>
        </p:blipFill>
        <p:spPr>
          <a:xfrm>
            <a:off x="878900" y="0"/>
            <a:ext cx="7087799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73" name="Google Shape;373;p37" title="ChatGPT Image 26 apr 2025, 11_32_01.png">
            <a:extLst>
              <a:ext uri="{FF2B5EF4-FFF2-40B4-BE49-F238E27FC236}">
                <a16:creationId xmlns:a16="http://schemas.microsoft.com/office/drawing/2014/main" id="{58BA6817-A3F7-2EB7-012B-235691080A6C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2277" r="94354"/>
          <a:stretch/>
        </p:blipFill>
        <p:spPr>
          <a:xfrm>
            <a:off x="7917378" y="0"/>
            <a:ext cx="1084573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74" name="Google Shape;374;p37" title="ChatGPT Image 26 apr 2025, 11_32_01.png">
            <a:extLst>
              <a:ext uri="{FF2B5EF4-FFF2-40B4-BE49-F238E27FC236}">
                <a16:creationId xmlns:a16="http://schemas.microsoft.com/office/drawing/2014/main" id="{D78F9AF3-C0C8-19E7-7F83-617E45A7E4E5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98158"/>
          <a:stretch/>
        </p:blipFill>
        <p:spPr>
          <a:xfrm>
            <a:off x="8947275" y="0"/>
            <a:ext cx="196723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75" name="Google Shape;375;p37">
            <a:extLst>
              <a:ext uri="{FF2B5EF4-FFF2-40B4-BE49-F238E27FC236}">
                <a16:creationId xmlns:a16="http://schemas.microsoft.com/office/drawing/2014/main" id="{621335D6-71C5-9617-5EC5-32FB347E42D0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 l="13714" t="12653" r="11952" b="31944"/>
          <a:stretch/>
        </p:blipFill>
        <p:spPr>
          <a:xfrm>
            <a:off x="7154702" y="1172975"/>
            <a:ext cx="1677599" cy="1250502"/>
          </a:xfrm>
          <a:prstGeom prst="rect">
            <a:avLst/>
          </a:prstGeom>
          <a:noFill/>
          <a:ln>
            <a:noFill/>
          </a:ln>
        </p:spPr>
      </p:pic>
      <p:sp>
        <p:nvSpPr>
          <p:cNvPr id="376" name="Google Shape;376;p37">
            <a:extLst>
              <a:ext uri="{FF2B5EF4-FFF2-40B4-BE49-F238E27FC236}">
                <a16:creationId xmlns:a16="http://schemas.microsoft.com/office/drawing/2014/main" id="{46DE8B92-29C9-2B5A-3AB0-2EE31F6C14F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48</a:t>
            </a:fld>
            <a:endParaRPr/>
          </a:p>
        </p:txBody>
      </p:sp>
      <p:pic>
        <p:nvPicPr>
          <p:cNvPr id="377" name="Google Shape;377;p37" title="ChatGPT Image 26 apr 2025, 11_32_01.png">
            <a:extLst>
              <a:ext uri="{FF2B5EF4-FFF2-40B4-BE49-F238E27FC236}">
                <a16:creationId xmlns:a16="http://schemas.microsoft.com/office/drawing/2014/main" id="{560CE860-0B15-8313-F7E5-793166F93571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47461" t="20977" r="36477" b="18603"/>
          <a:stretch/>
        </p:blipFill>
        <p:spPr>
          <a:xfrm>
            <a:off x="561673" y="1103650"/>
            <a:ext cx="4799301" cy="3107750"/>
          </a:xfrm>
          <a:prstGeom prst="rect">
            <a:avLst/>
          </a:prstGeom>
          <a:noFill/>
          <a:ln>
            <a:noFill/>
          </a:ln>
        </p:spPr>
      </p:pic>
      <p:sp>
        <p:nvSpPr>
          <p:cNvPr id="378" name="Google Shape;378;p37">
            <a:extLst>
              <a:ext uri="{FF2B5EF4-FFF2-40B4-BE49-F238E27FC236}">
                <a16:creationId xmlns:a16="http://schemas.microsoft.com/office/drawing/2014/main" id="{CF6D9F9D-CE3B-A493-4A45-45609D8A8552}"/>
              </a:ext>
            </a:extLst>
          </p:cNvPr>
          <p:cNvSpPr txBox="1"/>
          <p:nvPr/>
        </p:nvSpPr>
        <p:spPr>
          <a:xfrm>
            <a:off x="246950" y="1172975"/>
            <a:ext cx="5261400" cy="313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 dirty="0">
                <a:solidFill>
                  <a:srgbClr val="012C66"/>
                </a:solidFill>
                <a:latin typeface="Antonio"/>
                <a:ea typeface="Antonio"/>
                <a:cs typeface="Antonio"/>
                <a:sym typeface="Antonio"/>
              </a:rPr>
              <a:t>Thank you for the attention!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 dirty="0">
                <a:solidFill>
                  <a:srgbClr val="012C66"/>
                </a:solidFill>
                <a:latin typeface="Antonio"/>
                <a:ea typeface="Antonio"/>
                <a:cs typeface="Antonio"/>
                <a:sym typeface="Antonio"/>
              </a:rPr>
              <a:t>…But we’re not done yet</a:t>
            </a:r>
          </a:p>
        </p:txBody>
      </p:sp>
      <p:pic>
        <p:nvPicPr>
          <p:cNvPr id="6" name="6inpzl">
            <a:hlinkClick r:id="" action="ppaction://media"/>
            <a:extLst>
              <a:ext uri="{FF2B5EF4-FFF2-40B4-BE49-F238E27FC236}">
                <a16:creationId xmlns:a16="http://schemas.microsoft.com/office/drawing/2014/main" id="{F424F5D2-561B-E3FC-AB2D-A03727BDC53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192233" y="724610"/>
            <a:ext cx="3657600" cy="2011363"/>
          </a:xfrm>
          <a:prstGeom prst="rect">
            <a:avLst/>
          </a:prstGeom>
        </p:spPr>
      </p:pic>
      <p:pic>
        <p:nvPicPr>
          <p:cNvPr id="4" name="Immagine 3" descr="Immagine che contiene Viso umano, schermata, Human, Fronte&#10;&#10;Il contenuto generato dall'IA potrebbe non essere corretto.">
            <a:extLst>
              <a:ext uri="{FF2B5EF4-FFF2-40B4-BE49-F238E27FC236}">
                <a16:creationId xmlns:a16="http://schemas.microsoft.com/office/drawing/2014/main" id="{96904A58-ECA1-0886-217F-94D3D805EEE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09644" y="1297310"/>
            <a:ext cx="6191759" cy="3237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759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9" dur="4664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3" dur="4664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664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28" repeatCount="indefinite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53ED6410-20A9-2191-C6A3-0A70B75E5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DC0DB053-7625-9FEC-5E53-90AFC84BC3B0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EB15D273-0F9C-78A5-338C-B83B3EFD668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BD92CBC9-E0E4-29F6-1DDA-2B04DD7B979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E7BEC586-1B97-611B-6A88-77D56CC4F30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E2C66D24-FEEC-115C-BE5E-127825D7E3A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E110F53C-C5F7-AAC2-4A7E-13B37007050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AD6F5440-F099-6F8A-179C-64BD4BBE8A55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Multiple </a:t>
            </a: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sensors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DFE50E85-5D2D-F4B8-6B00-ED3ADAB43199}"/>
              </a:ext>
            </a:extLst>
          </p:cNvPr>
          <p:cNvSpPr txBox="1"/>
          <p:nvPr/>
        </p:nvSpPr>
        <p:spPr>
          <a:xfrm>
            <a:off x="311692" y="1174595"/>
            <a:ext cx="843086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32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What</a:t>
            </a:r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32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happens</a:t>
            </a:r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32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if</a:t>
            </a:r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32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32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have</a:t>
            </a:r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 multiple </a:t>
            </a:r>
            <a:r>
              <a:rPr lang="it-IT" sz="32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sensors</a:t>
            </a:r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32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sending</a:t>
            </a:r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32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odometry</a:t>
            </a:r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 data?</a:t>
            </a:r>
          </a:p>
          <a:p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Do </a:t>
            </a:r>
            <a:r>
              <a:rPr lang="it-IT" sz="32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32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have</a:t>
            </a:r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 to </a:t>
            </a:r>
            <a:r>
              <a:rPr lang="it-IT" sz="32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write</a:t>
            </a:r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 a </a:t>
            </a:r>
            <a:r>
              <a:rPr lang="it-IT" sz="32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node</a:t>
            </a:r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 for </a:t>
            </a:r>
            <a:r>
              <a:rPr lang="it-IT" sz="32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each</a:t>
            </a:r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 of </a:t>
            </a:r>
            <a:r>
              <a:rPr lang="it-IT" sz="32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them</a:t>
            </a:r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?</a:t>
            </a:r>
          </a:p>
          <a:p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The </a:t>
            </a:r>
            <a:r>
              <a:rPr lang="it-IT" sz="32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answer</a:t>
            </a:r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32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is</a:t>
            </a:r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3200" b="1" dirty="0">
                <a:solidFill>
                  <a:srgbClr val="C00000"/>
                </a:solidFill>
                <a:latin typeface="Consolas" panose="020B0609020204030204" pitchFamily="49" charset="0"/>
              </a:rPr>
              <a:t>NO</a:t>
            </a:r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: </a:t>
            </a:r>
            <a:r>
              <a:rPr lang="it-IT" sz="32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 can </a:t>
            </a:r>
            <a:r>
              <a:rPr lang="it-IT" sz="32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reuse</a:t>
            </a:r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32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odom_to_tf</a:t>
            </a:r>
            <a:endParaRPr lang="it-IT" sz="3200" b="1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endParaRPr lang="it-IT" sz="2400" b="1" dirty="0">
              <a:solidFill>
                <a:srgbClr val="C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188604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DD8D14A5-2153-3561-802B-046447D8B8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3216E321-70D2-1EBA-862F-D42BDEA3D889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D7885606-C495-4525-2EA4-A4476D7D80D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1BE8E9E9-41D5-6022-3BD4-63B81F6692B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B6700B2F-D666-FB98-9005-3AD61935152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F73B44FB-FE56-69C1-5F83-007744AB182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46A22876-A4EF-6BAE-E06C-72792205F3A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F2C4D1AA-9F03-FD7C-5E7D-357E5EDF5C2C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Remapping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5B70ABC1-0838-C0C2-09C9-25DCD2EEA03C}"/>
              </a:ext>
            </a:extLst>
          </p:cNvPr>
          <p:cNvSpPr txBox="1"/>
          <p:nvPr/>
        </p:nvSpPr>
        <p:spPr>
          <a:xfrm>
            <a:off x="311692" y="1174595"/>
            <a:ext cx="782869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This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possible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thanks to the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Remapping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can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write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a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generic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node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to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execute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a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function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(in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our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case,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convert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from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odom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to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tf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).</a:t>
            </a:r>
          </a:p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Each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time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need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,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launch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same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node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with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different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parameters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: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this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remapping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.</a:t>
            </a:r>
            <a:endParaRPr lang="it-IT" sz="2400" b="1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endParaRPr lang="it-IT" sz="2400" b="1" dirty="0">
              <a:solidFill>
                <a:srgbClr val="C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719829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46DD24A5-9BE0-2407-C136-00504AA67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9CF78B95-8A9D-EB5C-5265-5A4796861C46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E3D67BB8-E674-B77D-4953-FC52B0E5D864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3B99F366-6AE6-ADCD-A586-7D40774E489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EBEC8327-9C2E-A712-F16B-D25723FF464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5C57E363-3EB1-C6BD-AD33-80E3BB618C7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88C1C4E8-74E0-8AE9-60F4-FEFD6DDCCAE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65650CAC-FBE6-0AFF-3C29-7A783EB37E7A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Remapping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7EF24CD9-9925-9F33-A6C9-6D360DF72D14}"/>
              </a:ext>
            </a:extLst>
          </p:cNvPr>
          <p:cNvSpPr txBox="1"/>
          <p:nvPr/>
        </p:nvSpPr>
        <p:spPr>
          <a:xfrm>
            <a:off x="311692" y="1174595"/>
            <a:ext cx="782869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In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launch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folder,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you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can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find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a 2°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launch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file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called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conversion_launch_wheel.py</a:t>
            </a:r>
          </a:p>
          <a:p>
            <a:endParaRPr lang="it-IT" sz="2400" b="1" dirty="0">
              <a:solidFill>
                <a:schemeClr val="bg2"/>
              </a:solidFill>
              <a:latin typeface="Consolas" panose="020B0609020204030204" pitchFamily="49" charset="0"/>
            </a:endParaRPr>
          </a:p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It’s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same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code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as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before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,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but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this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time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use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to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convert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from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wheel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frame (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instead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of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gps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) to the global</a:t>
            </a:r>
            <a:endParaRPr lang="it-IT" sz="2400" b="1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endParaRPr lang="it-IT" sz="2400" b="1" dirty="0">
              <a:solidFill>
                <a:srgbClr val="C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628760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434BC7BC-DB02-9682-168D-3D6449206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C6BF2C53-E816-D134-94EB-6AEA9B4FC362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E9FAA8DF-4DB7-33D7-31AE-5FF79CD2A7C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2B008F6C-53AA-B92A-549C-3ABA4751744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F312FC88-5421-4261-2677-6D8A3128304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A2CCC32D-0F68-F33A-4BB6-55D23FBF98A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9A9E8BDB-4D3B-4778-6B18-D18B172AB2F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1BB72C57-9410-EC1B-9635-9BD272FE9847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Remapping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4DA58A07-ABB5-56E8-6EEA-F95AE86F87E8}"/>
              </a:ext>
            </a:extLst>
          </p:cNvPr>
          <p:cNvSpPr txBox="1"/>
          <p:nvPr/>
        </p:nvSpPr>
        <p:spPr>
          <a:xfrm>
            <a:off x="311692" y="1174595"/>
            <a:ext cx="546464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You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can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see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remapping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from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generic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topic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«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Input_odom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» to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sensor-specific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one</a:t>
            </a:r>
          </a:p>
          <a:p>
            <a:endParaRPr lang="it-IT" sz="2400" b="1" dirty="0">
              <a:solidFill>
                <a:schemeClr val="bg2"/>
              </a:solidFill>
              <a:latin typeface="Consolas" panose="020B0609020204030204" pitchFamily="49" charset="0"/>
            </a:endParaRPr>
          </a:p>
          <a:p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NB: the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two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nodes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should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be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launched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with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different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names</a:t>
            </a:r>
          </a:p>
          <a:p>
            <a:endParaRPr lang="it-IT" sz="2400" b="1" dirty="0">
              <a:solidFill>
                <a:srgbClr val="C00000"/>
              </a:solidFill>
              <a:latin typeface="Consolas" panose="020B0609020204030204" pitchFamily="49" charset="0"/>
            </a:endParaRPr>
          </a:p>
        </p:txBody>
      </p:sp>
      <p:pic>
        <p:nvPicPr>
          <p:cNvPr id="4" name="Immagine 3" descr="Immagine che contiene testo, schermata, software&#10;&#10;Il contenuto generato dall'IA potrebbe non essere corretto.">
            <a:extLst>
              <a:ext uri="{FF2B5EF4-FFF2-40B4-BE49-F238E27FC236}">
                <a16:creationId xmlns:a16="http://schemas.microsoft.com/office/drawing/2014/main" id="{C58534A1-C1B8-BE3A-2B15-8477B03281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5942" y="682625"/>
            <a:ext cx="2740315" cy="422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181812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B671A31F-342E-7D4B-4ADF-C1A7DFE53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4DB96823-F586-FF81-73BE-A67EBDD12500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B40FC799-25AA-26E9-5636-24D23E6086B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52B0BCB4-7586-628D-67B2-6AF7A9CF191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BCC96057-F367-FEE2-F825-ED41FC07A26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D602490E-C080-9D67-B6AB-DF10456472B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E6BAE9BB-BBB6-11DB-5F3A-36B71EB2EA6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7B22A8F4-2417-1D75-EB40-2CCDFF56E612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Remapping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D7EDC66-7607-48B6-1B96-8DF5C979D9EA}"/>
              </a:ext>
            </a:extLst>
          </p:cNvPr>
          <p:cNvSpPr txBox="1"/>
          <p:nvPr/>
        </p:nvSpPr>
        <p:spPr>
          <a:xfrm>
            <a:off x="311692" y="1174595"/>
            <a:ext cx="8445732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Try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using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this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new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launch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file:</a:t>
            </a:r>
          </a:p>
          <a:p>
            <a:pPr marL="342900" indent="-342900">
              <a:buFontTx/>
              <a:buChar char="-"/>
            </a:pP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In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Rviz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insert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the TF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as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before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,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you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should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see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wheel_frame</a:t>
            </a:r>
            <a:endParaRPr lang="it-IT" sz="2400" b="1" dirty="0">
              <a:solidFill>
                <a:schemeClr val="bg2"/>
              </a:solidFill>
              <a:latin typeface="Consolas" panose="020B0609020204030204" pitchFamily="49" charset="0"/>
            </a:endParaRPr>
          </a:p>
          <a:p>
            <a:pPr marL="342900" indent="-342900">
              <a:buFontTx/>
              <a:buChar char="-"/>
            </a:pPr>
            <a:endParaRPr lang="it-IT" sz="2400" b="1" dirty="0">
              <a:solidFill>
                <a:schemeClr val="bg2"/>
              </a:solidFill>
              <a:latin typeface="Consolas" panose="020B0609020204030204" pitchFamily="49" charset="0"/>
            </a:endParaRPr>
          </a:p>
          <a:p>
            <a:pPr marL="342900" indent="-342900">
              <a:buFontTx/>
              <a:buChar char="-"/>
            </a:pP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If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you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try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running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bag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you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can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notice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a strange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behaviour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...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Any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idea on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why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?</a:t>
            </a:r>
            <a:endParaRPr lang="it-IT" sz="24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endParaRPr lang="it-IT" sz="2400" b="1" dirty="0">
              <a:solidFill>
                <a:srgbClr val="C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728903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8">
          <a:extLst>
            <a:ext uri="{FF2B5EF4-FFF2-40B4-BE49-F238E27FC236}">
              <a16:creationId xmlns:a16="http://schemas.microsoft.com/office/drawing/2014/main" id="{1D35F423-D9F2-CE5B-62E4-90FA7150B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37">
            <a:extLst>
              <a:ext uri="{FF2B5EF4-FFF2-40B4-BE49-F238E27FC236}">
                <a16:creationId xmlns:a16="http://schemas.microsoft.com/office/drawing/2014/main" id="{BC72681F-3975-A0DF-B47E-8A3EDD00607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70" name="Google Shape;370;p37" title="ChatGPT Image 26 apr 2025, 11_32_01.png">
            <a:extLst>
              <a:ext uri="{FF2B5EF4-FFF2-40B4-BE49-F238E27FC236}">
                <a16:creationId xmlns:a16="http://schemas.microsoft.com/office/drawing/2014/main" id="{B7311B1B-E5E2-0670-D795-02555F6BBA1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2277" r="94354"/>
          <a:stretch/>
        </p:blipFill>
        <p:spPr>
          <a:xfrm>
            <a:off x="142050" y="0"/>
            <a:ext cx="780177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71" name="Google Shape;371;p37" title="ChatGPT Image 26 apr 2025, 11_32_01.png">
            <a:extLst>
              <a:ext uri="{FF2B5EF4-FFF2-40B4-BE49-F238E27FC236}">
                <a16:creationId xmlns:a16="http://schemas.microsoft.com/office/drawing/2014/main" id="{4E08D6FC-2330-D14C-DA29-67A481433AD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98158"/>
          <a:stretch/>
        </p:blipFill>
        <p:spPr>
          <a:xfrm>
            <a:off x="0" y="0"/>
            <a:ext cx="196723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72" name="Google Shape;372;p37" title="ChatGPT Image 26 apr 2025, 11_32_01.png">
            <a:extLst>
              <a:ext uri="{FF2B5EF4-FFF2-40B4-BE49-F238E27FC236}">
                <a16:creationId xmlns:a16="http://schemas.microsoft.com/office/drawing/2014/main" id="{1AEC7E4D-43A3-5E73-BDBA-3EA46CF5D35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5621" r="2516"/>
          <a:stretch/>
        </p:blipFill>
        <p:spPr>
          <a:xfrm>
            <a:off x="878900" y="0"/>
            <a:ext cx="7087799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73" name="Google Shape;373;p37" title="ChatGPT Image 26 apr 2025, 11_32_01.png">
            <a:extLst>
              <a:ext uri="{FF2B5EF4-FFF2-40B4-BE49-F238E27FC236}">
                <a16:creationId xmlns:a16="http://schemas.microsoft.com/office/drawing/2014/main" id="{58BA6817-A3F7-2EB7-012B-235691080A6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2277" r="94354"/>
          <a:stretch/>
        </p:blipFill>
        <p:spPr>
          <a:xfrm>
            <a:off x="7917378" y="0"/>
            <a:ext cx="1084573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74" name="Google Shape;374;p37" title="ChatGPT Image 26 apr 2025, 11_32_01.png">
            <a:extLst>
              <a:ext uri="{FF2B5EF4-FFF2-40B4-BE49-F238E27FC236}">
                <a16:creationId xmlns:a16="http://schemas.microsoft.com/office/drawing/2014/main" id="{D78F9AF3-C0C8-19E7-7F83-617E45A7E4E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98158"/>
          <a:stretch/>
        </p:blipFill>
        <p:spPr>
          <a:xfrm>
            <a:off x="8947275" y="0"/>
            <a:ext cx="196723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75" name="Google Shape;375;p37">
            <a:extLst>
              <a:ext uri="{FF2B5EF4-FFF2-40B4-BE49-F238E27FC236}">
                <a16:creationId xmlns:a16="http://schemas.microsoft.com/office/drawing/2014/main" id="{621335D6-71C5-9617-5EC5-32FB347E42D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l="13714" t="12653" r="11952" b="31944"/>
          <a:stretch/>
        </p:blipFill>
        <p:spPr>
          <a:xfrm>
            <a:off x="7154702" y="1172975"/>
            <a:ext cx="1677599" cy="1250502"/>
          </a:xfrm>
          <a:prstGeom prst="rect">
            <a:avLst/>
          </a:prstGeom>
          <a:noFill/>
          <a:ln>
            <a:noFill/>
          </a:ln>
        </p:spPr>
      </p:pic>
      <p:sp>
        <p:nvSpPr>
          <p:cNvPr id="376" name="Google Shape;376;p37">
            <a:extLst>
              <a:ext uri="{FF2B5EF4-FFF2-40B4-BE49-F238E27FC236}">
                <a16:creationId xmlns:a16="http://schemas.microsoft.com/office/drawing/2014/main" id="{46DE8B92-29C9-2B5A-3AB0-2EE31F6C14F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54</a:t>
            </a:fld>
            <a:endParaRPr/>
          </a:p>
        </p:txBody>
      </p:sp>
      <p:pic>
        <p:nvPicPr>
          <p:cNvPr id="377" name="Google Shape;377;p37" title="ChatGPT Image 26 apr 2025, 11_32_01.png">
            <a:extLst>
              <a:ext uri="{FF2B5EF4-FFF2-40B4-BE49-F238E27FC236}">
                <a16:creationId xmlns:a16="http://schemas.microsoft.com/office/drawing/2014/main" id="{560CE860-0B15-8313-F7E5-793166F9357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47461" t="20977" r="36477" b="18603"/>
          <a:stretch/>
        </p:blipFill>
        <p:spPr>
          <a:xfrm>
            <a:off x="561673" y="1103650"/>
            <a:ext cx="4799301" cy="3107750"/>
          </a:xfrm>
          <a:prstGeom prst="rect">
            <a:avLst/>
          </a:prstGeom>
          <a:noFill/>
          <a:ln>
            <a:noFill/>
          </a:ln>
        </p:spPr>
      </p:pic>
      <p:sp>
        <p:nvSpPr>
          <p:cNvPr id="378" name="Google Shape;378;p37">
            <a:extLst>
              <a:ext uri="{FF2B5EF4-FFF2-40B4-BE49-F238E27FC236}">
                <a16:creationId xmlns:a16="http://schemas.microsoft.com/office/drawing/2014/main" id="{CF6D9F9D-CE3B-A493-4A45-45609D8A8552}"/>
              </a:ext>
            </a:extLst>
          </p:cNvPr>
          <p:cNvSpPr txBox="1"/>
          <p:nvPr/>
        </p:nvSpPr>
        <p:spPr>
          <a:xfrm>
            <a:off x="246950" y="1172975"/>
            <a:ext cx="5261400" cy="323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 dirty="0">
                <a:solidFill>
                  <a:srgbClr val="012C66"/>
                </a:solidFill>
                <a:latin typeface="Antonio"/>
                <a:ea typeface="Antonio"/>
                <a:cs typeface="Antonio"/>
                <a:sym typeface="Antonio"/>
              </a:rPr>
              <a:t>Thank you!</a:t>
            </a:r>
            <a:endParaRPr sz="4800" dirty="0">
              <a:solidFill>
                <a:srgbClr val="012C66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" sz="3000" dirty="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</a:br>
            <a:r>
              <a:rPr lang="en" sz="3000" dirty="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We hope to see you on </a:t>
            </a:r>
            <a:r>
              <a:rPr lang="en" sz="3000" dirty="0">
                <a:solidFill>
                  <a:srgbClr val="FF6300"/>
                </a:solidFill>
                <a:latin typeface="Antonio"/>
                <a:ea typeface="Antonio"/>
                <a:cs typeface="Antonio"/>
                <a:sym typeface="Antonio"/>
              </a:rPr>
              <a:t>16th May</a:t>
            </a:r>
            <a:r>
              <a:rPr lang="en" sz="3000" dirty="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 in </a:t>
            </a:r>
            <a:r>
              <a:rPr lang="en" sz="3000" dirty="0">
                <a:solidFill>
                  <a:srgbClr val="FF6300"/>
                </a:solidFill>
                <a:latin typeface="Antonio"/>
                <a:ea typeface="Antonio"/>
                <a:cs typeface="Antonio"/>
                <a:sym typeface="Antonio"/>
              </a:rPr>
              <a:t>B15 LM4</a:t>
            </a:r>
            <a:r>
              <a:rPr lang="en" sz="3000" dirty="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 to discover the world of navigation and complete the workshop.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12488677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1737</Words>
  <Application>Microsoft Office PowerPoint</Application>
  <PresentationFormat>Presentazione su schermo (16:9)</PresentationFormat>
  <Paragraphs>205</Paragraphs>
  <Slides>54</Slides>
  <Notes>54</Notes>
  <HiddenSlides>1</HiddenSlides>
  <MMClips>1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54</vt:i4>
      </vt:variant>
    </vt:vector>
  </HeadingPairs>
  <TitlesOfParts>
    <vt:vector size="59" baseType="lpstr">
      <vt:lpstr>Antonio</vt:lpstr>
      <vt:lpstr>Arial</vt:lpstr>
      <vt:lpstr>Consolas</vt:lpstr>
      <vt:lpstr>Courier New</vt:lpstr>
      <vt:lpstr>Simple Light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Luca Attorrese</cp:lastModifiedBy>
  <cp:revision>1</cp:revision>
  <dcterms:modified xsi:type="dcterms:W3CDTF">2025-05-11T14:26:18Z</dcterms:modified>
</cp:coreProperties>
</file>