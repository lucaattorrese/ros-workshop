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Antonio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ntonio-bold.fntdata"/><Relationship Id="rId10" Type="http://schemas.openxmlformats.org/officeDocument/2006/relationships/slide" Target="slides/slide5.xml"/><Relationship Id="rId32" Type="http://schemas.openxmlformats.org/officeDocument/2006/relationships/font" Target="fonts/Antoni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6ae2e89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6ae2e89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6aea39e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6aea39e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74c77bc4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74c77bc4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74c77bc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74c77bc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74c77bc4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74c77bc4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74c77bc4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74c77bc4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74c77bc4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74c77bc4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74c77bc4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74c77bc4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74c77bc4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74c77bc4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6ae2e895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6ae2e895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068b478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068b478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068b4785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068b4785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068b4785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068b4785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068b47852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068b4785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068b478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068b478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068b4785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068b4785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068b4785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068b4785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068b4785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068b4785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068b4785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068b4785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068b4785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5068b4785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068b4785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068b4785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068b4785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068b4785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6b467633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6b467633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56b467633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56b467633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068b4785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068b4785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068b4785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068b4785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github.com/LucaAttorrese/ROS-Workshop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2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8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2.gif"/><Relationship Id="rId7" Type="http://schemas.openxmlformats.org/officeDocument/2006/relationships/image" Target="../media/image6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2.gif"/><Relationship Id="rId7" Type="http://schemas.openxmlformats.org/officeDocument/2006/relationships/image" Target="../media/image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8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10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ChatGPT Image 26 apr 2025, 11_32_01.png"/>
          <p:cNvPicPr preferRelativeResize="0"/>
          <p:nvPr/>
        </p:nvPicPr>
        <p:blipFill rotWithShape="1">
          <a:blip r:embed="rId3">
            <a:alphaModFix/>
          </a:blip>
          <a:srcRect b="0" l="2277" r="94354" t="0"/>
          <a:stretch/>
        </p:blipFill>
        <p:spPr>
          <a:xfrm>
            <a:off x="142050" y="0"/>
            <a:ext cx="78017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ChatGPT Image 26 apr 2025, 11_32_01.png"/>
          <p:cNvPicPr preferRelativeResize="0"/>
          <p:nvPr/>
        </p:nvPicPr>
        <p:blipFill rotWithShape="1">
          <a:blip r:embed="rId3">
            <a:alphaModFix/>
          </a:blip>
          <a:srcRect b="0" l="0" r="98158" t="0"/>
          <a:stretch/>
        </p:blipFill>
        <p:spPr>
          <a:xfrm>
            <a:off x="0" y="0"/>
            <a:ext cx="19672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ChatGPT Image 26 apr 2025, 11_32_01.png"/>
          <p:cNvPicPr preferRelativeResize="0"/>
          <p:nvPr/>
        </p:nvPicPr>
        <p:blipFill rotWithShape="1">
          <a:blip r:embed="rId3">
            <a:alphaModFix/>
          </a:blip>
          <a:srcRect b="0" l="5621" r="2516" t="0"/>
          <a:stretch/>
        </p:blipFill>
        <p:spPr>
          <a:xfrm>
            <a:off x="878900" y="0"/>
            <a:ext cx="70877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hatGPT Image 26 apr 2025, 11_32_01.png"/>
          <p:cNvPicPr preferRelativeResize="0"/>
          <p:nvPr/>
        </p:nvPicPr>
        <p:blipFill rotWithShape="1">
          <a:blip r:embed="rId3">
            <a:alphaModFix/>
          </a:blip>
          <a:srcRect b="0" l="2277" r="94354" t="0"/>
          <a:stretch/>
        </p:blipFill>
        <p:spPr>
          <a:xfrm>
            <a:off x="7917378" y="0"/>
            <a:ext cx="108457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ChatGPT Image 26 apr 2025, 11_32_01.png"/>
          <p:cNvPicPr preferRelativeResize="0"/>
          <p:nvPr/>
        </p:nvPicPr>
        <p:blipFill rotWithShape="1">
          <a:blip r:embed="rId3">
            <a:alphaModFix/>
          </a:blip>
          <a:srcRect b="0" l="98158" r="0" t="0"/>
          <a:stretch/>
        </p:blipFill>
        <p:spPr>
          <a:xfrm>
            <a:off x="8947275" y="0"/>
            <a:ext cx="19672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b="31944" l="13714" r="11952" t="12653"/>
          <a:stretch/>
        </p:blipFill>
        <p:spPr>
          <a:xfrm>
            <a:off x="7154702" y="1172975"/>
            <a:ext cx="1677599" cy="125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369075" y="90450"/>
            <a:ext cx="491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Scheduling</a:t>
            </a:r>
            <a:endParaRPr b="1" sz="48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45675" y="1249025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b="1" lang="en" sz="3000">
                <a:solidFill>
                  <a:srgbClr val="DA2120"/>
                </a:solidFill>
                <a:latin typeface="Antonio"/>
                <a:ea typeface="Antonio"/>
                <a:cs typeface="Antonio"/>
                <a:sym typeface="Antonio"/>
              </a:rPr>
              <a:t>6th May</a:t>
            </a:r>
            <a:r>
              <a:rPr b="1"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 - Introduction to the software ROS and first examples</a:t>
            </a:r>
            <a:endParaRPr b="1"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b="1" lang="en" sz="3000">
                <a:solidFill>
                  <a:srgbClr val="DA2120"/>
                </a:solidFill>
                <a:latin typeface="Antonio"/>
                <a:ea typeface="Antonio"/>
                <a:cs typeface="Antonio"/>
                <a:sym typeface="Antonio"/>
              </a:rPr>
              <a:t>12th May</a:t>
            </a:r>
            <a:r>
              <a:rPr b="1"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 - Introduction to the GNSS module and how to use GNSS data inside ROS</a:t>
            </a:r>
            <a:endParaRPr b="1"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b="1" lang="en" sz="3000">
                <a:solidFill>
                  <a:srgbClr val="EA9999"/>
                </a:solidFill>
                <a:latin typeface="Antonio"/>
                <a:ea typeface="Antonio"/>
                <a:cs typeface="Antonio"/>
                <a:sym typeface="Antonio"/>
              </a:rPr>
              <a:t>16th May</a:t>
            </a:r>
            <a:r>
              <a:rPr b="1"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b="1" lang="en" sz="3000">
                <a:solidFill>
                  <a:srgbClr val="999999"/>
                </a:solidFill>
                <a:latin typeface="Antonio"/>
                <a:ea typeface="Antonio"/>
                <a:cs typeface="Antonio"/>
                <a:sym typeface="Antonio"/>
              </a:rPr>
              <a:t>- Introduction to the navigation</a:t>
            </a:r>
            <a:endParaRPr b="1" sz="3000">
              <a:solidFill>
                <a:srgbClr val="999999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999999"/>
                </a:solidFill>
                <a:latin typeface="Antonio"/>
                <a:ea typeface="Antonio"/>
                <a:cs typeface="Antonio"/>
                <a:sym typeface="Antonio"/>
              </a:rPr>
              <a:t> problem and examples</a:t>
            </a:r>
            <a:endParaRPr b="1" sz="3000">
              <a:solidFill>
                <a:srgbClr val="999999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369075" y="90450"/>
            <a:ext cx="491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Github link</a:t>
            </a:r>
            <a:endParaRPr b="1" sz="48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69075" y="1190750"/>
            <a:ext cx="82953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You can download all the example from here:</a:t>
            </a:r>
            <a:endParaRPr b="1" sz="2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https://github.com/LucaAttorrese/ROS-Workshop/</a:t>
            </a:r>
            <a:endParaRPr b="1" sz="29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369075" y="90450"/>
            <a:ext cx="491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Review: pub/sub</a:t>
            </a:r>
            <a:endParaRPr b="1" sz="48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69075" y="1190750"/>
            <a:ext cx="82953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Let’s review how to run the first example from last lesson:</a:t>
            </a:r>
            <a:r>
              <a:rPr b="1" lang="en" sz="23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endParaRPr b="1" sz="2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nsolas"/>
              <a:buChar char="-"/>
            </a:pPr>
            <a:r>
              <a:rPr b="1" lang="en" sz="2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Open powershell</a:t>
            </a:r>
            <a:endParaRPr b="1" sz="2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nsolas"/>
              <a:buChar char="-"/>
            </a:pPr>
            <a:r>
              <a:rPr b="1"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wsl</a:t>
            </a:r>
            <a:r>
              <a:rPr b="1" lang="en" sz="2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to open linux environment</a:t>
            </a:r>
            <a:endParaRPr b="1" sz="2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Consolas"/>
              <a:buChar char="-"/>
            </a:pPr>
            <a:r>
              <a:rPr b="1" lang="en" sz="2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Enter in tmux with: </a:t>
            </a:r>
            <a:r>
              <a:rPr b="1"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tmux</a:t>
            </a:r>
            <a:endParaRPr b="1"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onsolas"/>
              <a:buChar char="-"/>
            </a:pPr>
            <a:r>
              <a:rPr b="1" lang="en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/opt/ros/jazzy/setup.bash</a:t>
            </a:r>
            <a:endParaRPr b="1" sz="2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369075" y="90450"/>
            <a:ext cx="491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Review: pub/sub</a:t>
            </a:r>
            <a:endParaRPr b="1" sz="48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69075" y="1190750"/>
            <a:ext cx="82953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onsolas"/>
              <a:buChar char="-"/>
            </a:pPr>
            <a:r>
              <a:rPr b="1" lang="en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Build the package </a:t>
            </a:r>
            <a:r>
              <a:rPr b="1" lang="en" sz="2100">
                <a:solidFill>
                  <a:srgbClr val="DA2120"/>
                </a:solidFill>
                <a:latin typeface="Consolas"/>
                <a:ea typeface="Consolas"/>
                <a:cs typeface="Consolas"/>
                <a:sym typeface="Consolas"/>
              </a:rPr>
              <a:t>(out of package_prova folder)</a:t>
            </a:r>
            <a:r>
              <a:rPr b="1" lang="en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with: </a:t>
            </a:r>
            <a:r>
              <a:rPr b="1"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colcon build --packages-select package_prova</a:t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onsolas"/>
              <a:buChar char="-"/>
            </a:pPr>
            <a:r>
              <a:rPr b="1"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./install/setup.bash</a:t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onsolas"/>
              <a:buChar char="-"/>
            </a:pPr>
            <a:r>
              <a:rPr b="1" lang="en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To run the subscriber: </a:t>
            </a:r>
            <a:endParaRPr b="1"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ros2 run package_prova Test_sub</a:t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onsolas"/>
              <a:buChar char="-"/>
            </a:pPr>
            <a:r>
              <a:rPr b="1" lang="en" sz="21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Open a new terminal (Win/Ub: Ctrl+b then %) to run the publisher:</a:t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ros2 run package_prova Test_pub</a:t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369075" y="90450"/>
            <a:ext cx="491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Ex. 1.3: Launch file</a:t>
            </a:r>
            <a:endParaRPr b="1" sz="48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69075" y="1190750"/>
            <a:ext cx="82953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We can avoid launching the nodes one at a time by using a launch file: basically a python scripts that launches multiple nodes together.</a:t>
            </a:r>
            <a:endParaRPr b="1"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Create a launch folder in ./package_prova:</a:t>
            </a:r>
            <a:endParaRPr b="1"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[Vim: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cd package_prova &amp;&amp; mkdir launch &amp;&amp; cd launch</a:t>
            </a:r>
            <a:r>
              <a:rPr b="1"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[V.S.: create a new folder called launch]</a:t>
            </a:r>
            <a:endParaRPr b="1"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[Or you can just download the entire folder from Github]</a:t>
            </a:r>
            <a:endParaRPr b="1"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369075" y="90450"/>
            <a:ext cx="5176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Ex. 1.3: Launch file</a:t>
            </a:r>
            <a:endParaRPr b="1" sz="50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90250" y="1043775"/>
            <a:ext cx="8462400" cy="3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We can avoid launching the nodes one at a time by using a launch file: basically a python scripts that launches multiple nodes together.</a:t>
            </a:r>
            <a:endParaRPr b="1"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DA2120"/>
                </a:solidFill>
                <a:latin typeface="Consolas"/>
                <a:ea typeface="Consolas"/>
                <a:cs typeface="Consolas"/>
                <a:sym typeface="Consolas"/>
              </a:rPr>
              <a:t>If you want to use vim/visual studio instead of downloading from Github, follow the steps in the presentation of last week!</a:t>
            </a:r>
            <a:endParaRPr b="1" sz="2200">
              <a:solidFill>
                <a:srgbClr val="DA212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369075" y="90450"/>
            <a:ext cx="491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Ex. 1.3: Launch file</a:t>
            </a:r>
            <a:endParaRPr b="1" sz="48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190250" y="1043775"/>
            <a:ext cx="8462400" cy="3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We can avoid launching the nodes one at a time by using a launch file: basically a python scripts that launches multiple nodes together.</a:t>
            </a:r>
            <a:endParaRPr b="1"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DA2120"/>
                </a:solidFill>
                <a:latin typeface="Consolas"/>
                <a:ea typeface="Consolas"/>
                <a:cs typeface="Consolas"/>
                <a:sym typeface="Consolas"/>
              </a:rPr>
              <a:t>If you want to use vim/visual studio instead of downloading from Github, follow the steps in the presentation of last week!</a:t>
            </a:r>
            <a:endParaRPr b="1" sz="2000">
              <a:solidFill>
                <a:srgbClr val="DA212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Navigation problem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45675" y="1249025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Imagine to be a UAV that wants to reach a target position (BL27).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750" y="1879750"/>
            <a:ext cx="3315850" cy="30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642" y="1937314"/>
            <a:ext cx="459956" cy="4283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all white drone is flying in the air . (Provided by Tenor)" id="167" name="Google Shape;16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850" y="2302025"/>
            <a:ext cx="2421475" cy="16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Navigation problem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445675" y="1249025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The first step is to understand the actual 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position on the map. 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We need a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GNSS module!</a:t>
            </a:r>
            <a:endParaRPr sz="36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750" y="1879750"/>
            <a:ext cx="3315850" cy="30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642" y="1937314"/>
            <a:ext cx="459956" cy="4283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all white drone is flying in the air . (Provided by Tenor)" id="182" name="Google Shape;18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6825" y="3378175"/>
            <a:ext cx="2016900" cy="13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GNSS Module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75" y="1059389"/>
            <a:ext cx="1959400" cy="14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 rotWithShape="1">
          <a:blip r:embed="rId5">
            <a:alphaModFix/>
          </a:blip>
          <a:srcRect b="12836" l="0" r="0" t="7830"/>
          <a:stretch/>
        </p:blipFill>
        <p:spPr>
          <a:xfrm>
            <a:off x="478275" y="2662354"/>
            <a:ext cx="1959400" cy="1544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2971150" y="2525350"/>
            <a:ext cx="214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2437675" y="1064863"/>
            <a:ext cx="64014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Multi Constellation </a:t>
            </a:r>
            <a:r>
              <a:rPr lang="en" sz="25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(GPS, Galileo BeiDou,GLONASS)</a:t>
            </a:r>
            <a:endParaRPr sz="25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Mono band (L1) 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1.5 m accuracy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2363875" y="2657400"/>
            <a:ext cx="64014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Multi Constellation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Dual band (L1 &amp; L5)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0.8 m accuracy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2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GNSS Module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369075" y="3554375"/>
            <a:ext cx="72768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GPGGA,172814.0,3723.46587704,N,12202.26957864,W,2,6,1.2,18.893,M,-25.669,M,2.0 0031*4F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177025" y="1124663"/>
            <a:ext cx="596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1143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&gt;&gt; </a:t>
            </a:r>
            <a:r>
              <a:rPr lang="en" sz="11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gps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1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send_command(</a:t>
            </a:r>
            <a:r>
              <a:rPr lang="en" sz="1100">
                <a:solidFill>
                  <a:srgbClr val="4070A0"/>
                </a:solidFill>
                <a:latin typeface="Consolas"/>
                <a:ea typeface="Consolas"/>
                <a:cs typeface="Consolas"/>
                <a:sym typeface="Consolas"/>
              </a:rPr>
              <a:t>b'PMTK314,0,1,0,1,0,0,0,0,0,0,0,0,0,0,0,0,0,0,0'</a:t>
            </a:r>
            <a:r>
              <a:rPr lang="en" sz="11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1577000"/>
            <a:ext cx="4201574" cy="189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GNSS Module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88" y="119036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050" y="979212"/>
            <a:ext cx="2578275" cy="248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0887" y="1086775"/>
            <a:ext cx="3142224" cy="253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6"/>
          <p:cNvSpPr txBox="1"/>
          <p:nvPr/>
        </p:nvSpPr>
        <p:spPr>
          <a:xfrm>
            <a:off x="868575" y="3589200"/>
            <a:ext cx="11487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LLA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2272875" y="3589200"/>
            <a:ext cx="47241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Earth-Centered Earth-Fixed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6843075" y="3589200"/>
            <a:ext cx="11487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ENU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descr="a red arrow on a white background points to the right (Provided by Tenor)" id="231" name="Google Shape;23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8975" y="1616286"/>
            <a:ext cx="1336900" cy="1049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rrow on a white background points to the right (Provided by Tenor)" id="232" name="Google Shape;23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0300" y="1616286"/>
            <a:ext cx="1336900" cy="1049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2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7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Navigation problem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445675" y="1249025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Now we know where we are (B15) and Luca gives us the trajectory, using 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the library Nav2.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Now, we need to follow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the path!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245" name="Google Shape;2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750" y="1879750"/>
            <a:ext cx="3315850" cy="30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642" y="1937314"/>
            <a:ext cx="459956" cy="4283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all white drone is flying in the air . (Provided by Tenor)" id="247" name="Google Shape;24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7175" y="4095150"/>
            <a:ext cx="1318425" cy="87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rrow is pointing up on a white background . (Provided by Tenor)" id="248" name="Google Shape;248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722017">
            <a:off x="5413001" y="2876725"/>
            <a:ext cx="2147945" cy="123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Navigation problem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We can increase the accuracy of the measurement with sensor fusion: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Luenberger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observer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Kalman filter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MHE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…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261" name="Google Shape;26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750" y="1879750"/>
            <a:ext cx="3315850" cy="30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642" y="1937314"/>
            <a:ext cx="459956" cy="4283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mall white drone is flying in the air . (Provided by Tenor)" id="263" name="Google Shape;26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7175" y="4095150"/>
            <a:ext cx="1318425" cy="87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rrow is pointing up on a white background . (Provided by Tenor)" id="264" name="Google Shape;26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722017">
            <a:off x="5413001" y="2876725"/>
            <a:ext cx="2147945" cy="123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9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9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Why use a sensor?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Trajectory: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GNSS: noisy 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especially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on z axis.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Accelerometer: drift.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Barometer: good for z axis correction.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Encoder: for mobile robots.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Camera: for visual odometry (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computational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 cost)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0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Why use a sensor?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Attitude</a:t>
            </a: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: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Gyroscope: drift 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Accelerometer: can sense the gravity vector (as reaction force)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Magnetometer: can fill the north (perpendicular to g)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ntonio"/>
              <a:buChar char="-"/>
            </a:pPr>
            <a:r>
              <a:rPr lang="en" sz="30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Camera: expensive.</a:t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3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1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1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Navigation problem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301" name="Google Shape;30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75" y="1238988"/>
            <a:ext cx="5115901" cy="283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is making a funny face and the words huh are visible (Provided by Tenor)" id="302" name="Google Shape;30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8550" y="2382119"/>
            <a:ext cx="2477726" cy="16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3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Navigation problem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id="315" name="Google Shape;3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590" y="1144136"/>
            <a:ext cx="2147025" cy="302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3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Let’s move to ROS!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descr="a penguin wearing a black shirt with the letter b on it looks at a laptop (Provided by Tenor)" id="327" name="Google Shape;3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2687" y="1144325"/>
            <a:ext cx="3018625" cy="30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3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4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ROS Bag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3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5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5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ROS Bag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3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ROS Bag: download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3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7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7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LLA to ECEF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374" name="Google Shape;374;p37"/>
          <p:cNvSpPr txBox="1"/>
          <p:nvPr/>
        </p:nvSpPr>
        <p:spPr>
          <a:xfrm>
            <a:off x="311700" y="10675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2"/>
                </a:solidFill>
                <a:latin typeface="Antonio"/>
                <a:ea typeface="Antonio"/>
                <a:cs typeface="Antonio"/>
                <a:sym typeface="Antonio"/>
              </a:rPr>
              <a:t>Let’s consider the latitude (ϕ), longitude (λ) and altitude (h):</a:t>
            </a:r>
            <a:endParaRPr sz="27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descr="{&quot;type&quot;:&quot;$$&quot;,&quot;backgroundColor&quot;:&quot;#FFFFFF&quot;,&quot;aid&quot;:null,&quot;font&quot;:{&quot;color&quot;:&quot;#595959&quot;,&quot;size&quot;:18,&quot;family&quot;:&quot;Arial&quot;},&quot;code&quot;:&quot;$$X=\\left(N\\left(\\phi\\right)+h\\right)\\cos\\left(\\phi\\right)\\cos\\left(\\lambda\\right)$$&quot;,&quot;id&quot;:&quot;1&quot;,&quot;backgroundColorModified&quot;:false,&quot;ts&quot;:1745764887270,&quot;cs&quot;:&quot;XTGWWKVi4iUMyDRpwJmgGw==&quot;,&quot;size&quot;:{&quot;width&quot;:370.3333333333333,&quot;height&quot;:28.333333333333332}}" id="375" name="Google Shape;37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539" y="3311828"/>
            <a:ext cx="3527425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2&quot;,&quot;backgroundColor&quot;:&quot;#FFFFFF&quot;,&quot;font&quot;:{&quot;color&quot;:&quot;#595959&quot;,&quot;family&quot;:&quot;Arial&quot;,&quot;size&quot;:18},&quot;code&quot;:&quot;$$Y=\\left(N\\left(\\phi\\right)+h\\right)\\cos\\left(\\phi\\right)\\sin\\left(\\lambda\\right)$$&quot;,&quot;aid&quot;:null,&quot;type&quot;:&quot;$$&quot;,&quot;ts&quot;:1745764898300,&quot;cs&quot;:&quot;fQdVdymlgWb1ql1Zf2qdEg==&quot;,&quot;size&quot;:{&quot;width&quot;:364.6666666666667,&quot;height&quot;:28.333333333333332}}" id="376" name="Google Shape;37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525" y="3626727"/>
            <a:ext cx="3473450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code&quot;:&quot;$$Z=\\left(N\\left(\\phi\\right)\\left(1-e^{2}\\right)+h\\right)\\sin\\left(\\phi\\right)$$&quot;,&quot;id&quot;:&quot;3&quot;,&quot;backgroundColor&quot;:&quot;#FFFFFF&quot;,&quot;font&quot;:{&quot;family&quot;:&quot;Arial&quot;,&quot;size&quot;:18,&quot;color&quot;:&quot;#595959&quot;},&quot;type&quot;:&quot;$$&quot;,&quot;ts&quot;:1745764913162,&quot;cs&quot;:&quot;tn7LYvjWHOVDcis5wd3q8w==&quot;,&quot;size&quot;:{&quot;width&quot;:385.6666666666667,&quot;height&quot;:35}}" id="377" name="Google Shape;37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065" y="3883595"/>
            <a:ext cx="3673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e^{2}=1-\\frac{b^{2}}{a^{2}}$$&quot;,&quot;font&quot;:{&quot;size&quot;:18,&quot;color&quot;:&quot;#595959&quot;,&quot;family&quot;:&quot;Arial&quot;},&quot;backgroundColor&quot;:&quot;#FFFFFF&quot;,&quot;type&quot;:&quot;$$&quot;,&quot;id&quot;:&quot;5&quot;,&quot;backgroundColorModified&quot;:false,&quot;aid&quot;:null,&quot;ts&quot;:1745764945896,&quot;cs&quot;:&quot;/U6TDuvFxz9y3ekNmN/8Zg==&quot;,&quot;size&quot;:{&quot;width&quot;:146.66666666666666,&quot;height&quot;:63.166666666666664}}" id="378" name="Google Shape;37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526" y="1629389"/>
            <a:ext cx="1397000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6&quot;,&quot;backgroundColor&quot;:&quot;#FFFFFF&quot;,&quot;code&quot;:&quot;$$N\\left(\\phi\\right)=\\frac{a}{{\\sqrt[]{1-e^{2}\\sin^{2}\\left(\\phi\\right)}}}$$&quot;,&quot;backgroundColorModified&quot;:false,&quot;font&quot;:{&quot;family&quot;:&quot;Arial&quot;,&quot;color&quot;:&quot;#595959&quot;,&quot;size&quot;:18},&quot;type&quot;:&quot;$$&quot;,&quot;ts&quot;:1745764935275,&quot;cs&quot;:&quot;m547ICxofrJsKNpIRSOtaw==&quot;,&quot;size&quot;:{&quot;width&quot;:311.99999999999994,&quot;height&quot;:82.75}}" id="379" name="Google Shape;379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9081" y="2377338"/>
            <a:ext cx="2971800" cy="78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code&quot;:&quot;$$a=6378137\\,m$$&quot;,&quot;id&quot;:&quot;7&quot;,&quot;font&quot;:{&quot;color&quot;:&quot;#000000&quot;,&quot;family&quot;:&quot;Arial&quot;,&quot;size&quot;:24},&quot;aid&quot;:null,&quot;type&quot;:&quot;$$&quot;,&quot;ts&quot;:1745764988365,&quot;cs&quot;:&quot;qbSVUrjp9EABUDpK1QsLnQ==&quot;,&quot;size&quot;:{&quot;width&quot;:238.6000000000001,&quot;height&quot;:26.399999999999988}}" id="380" name="Google Shape;380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61963" y="1664687"/>
            <a:ext cx="2272665" cy="251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8&quot;,&quot;code&quot;:&quot;$$b=6356752\\,m$$&quot;,&quot;backgroundColor&quot;:&quot;#FFFFFF&quot;,&quot;type&quot;:&quot;$$&quot;,&quot;font&quot;:{&quot;color&quot;:&quot;#000000&quot;,&quot;family&quot;:&quot;Arial&quot;,&quot;size&quot;:24},&quot;backgroundColorModified&quot;:false,&quot;aid&quot;:null,&quot;ts&quot;:1745764973855,&quot;cs&quot;:&quot;6MeLYJc6rOfB+0peAkmOeA==&quot;,&quot;size&quot;:{&quot;width&quot;:234.6000000000001,&quot;height&quot;:27}}" id="381" name="Google Shape;381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61963" y="1973881"/>
            <a:ext cx="223456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3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0" r="26713" t="0"/>
          <a:stretch/>
        </p:blipFill>
        <p:spPr>
          <a:xfrm>
            <a:off x="0" y="0"/>
            <a:ext cx="56542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72171" r="0" t="0"/>
          <a:stretch/>
        </p:blipFill>
        <p:spPr>
          <a:xfrm>
            <a:off x="6996976" y="0"/>
            <a:ext cx="2147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5459325" y="0"/>
            <a:ext cx="16242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8" title="ChatGPT Image 26 apr 2025, 11_27_57.png"/>
          <p:cNvPicPr preferRelativeResize="0"/>
          <p:nvPr/>
        </p:nvPicPr>
        <p:blipFill rotWithShape="1">
          <a:blip r:embed="rId3">
            <a:alphaModFix/>
          </a:blip>
          <a:srcRect b="0" l="62189" r="26582" t="0"/>
          <a:stretch/>
        </p:blipFill>
        <p:spPr>
          <a:xfrm>
            <a:off x="311708" y="0"/>
            <a:ext cx="6685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8"/>
          <p:cNvSpPr txBox="1"/>
          <p:nvPr/>
        </p:nvSpPr>
        <p:spPr>
          <a:xfrm>
            <a:off x="369075" y="55225"/>
            <a:ext cx="61860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ECEF</a:t>
            </a:r>
            <a:r>
              <a:rPr b="1" lang="en" sz="5500">
                <a:solidFill>
                  <a:srgbClr val="EAD9B4"/>
                </a:solidFill>
                <a:latin typeface="Antonio"/>
                <a:ea typeface="Antonio"/>
                <a:cs typeface="Antonio"/>
                <a:sym typeface="Antonio"/>
              </a:rPr>
              <a:t> to ENU</a:t>
            </a:r>
            <a:endParaRPr b="1" sz="5500">
              <a:solidFill>
                <a:srgbClr val="EAD9B4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311700" y="1214850"/>
            <a:ext cx="82188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pic>
        <p:nvPicPr>
          <p:cNvPr descr="{&quot;code&quot;:&quot;$$\\begin{bmatrix}\n{x}\\\\\n{y}\\\\\n{z}\\\\\n\\end{bmatrix}=\\begin{bmatrix}\n{-\\sin\\left(\\lambda_{r}\\right)}&amp;{\\cos\\left(\\lambda_{r}\\right)}&amp;{0}\\\\\n{-\\sin\\left(\\phi_{r}\\right)\\cos\\left(\\lambda_{r}\\right)}&amp;{-\\sin\\left(\\phi_{r}\\right)\\sin\\left(\\lambda_{r}\\right)}&amp;{\\cos\\left(\\phi_{r}\\right)}\\\\\n{\\cos\\left(\\phi_{r}\\right)\\cos\\left(\\lambda_{r}\\right)}&amp;{\\cos\\left(\\phi_{r}\\right)\\sin\\left(\\lambda_{r}\\right)}&amp;{\\sin\\left(\\phi_{r}\\right)}\\\\\n\\end{bmatrix}\\begin{bmatrix}\n{X-X_{r}}\\\\\n{Y-Y_{r}}\\\\\n{Z-Z_{r}}\\\\\n\\end{bmatrix}$$&quot;,&quot;type&quot;:&quot;$$&quot;,&quot;id&quot;:&quot;9&quot;,&quot;backgroundColor&quot;:&quot;#FFFFFF&quot;,&quot;backgroundColorModified&quot;:false,&quot;font&quot;:{&quot;family&quot;:&quot;Arial&quot;,&quot;color&quot;:&quot;#595959&quot;,&quot;size&quot;:19.5},&quot;aid&quot;:null,&quot;ts&quot;:1745765556574,&quot;cs&quot;:&quot;JmJwCKPVQ7tevPEAmFsoSA==&quot;,&quot;size&quot;:{&quot;width&quot;:906.6325157480316,&quot;height&quot;:119.05249186351706}}" id="394" name="Google Shape;39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27" y="1832513"/>
            <a:ext cx="8635675" cy="11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